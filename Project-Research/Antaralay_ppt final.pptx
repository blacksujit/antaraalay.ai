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58" r:id="rId3"/>
    <p:sldId id="259" r:id="rId4"/>
    <p:sldId id="269" r:id="rId5"/>
    <p:sldId id="260" r:id="rId6"/>
    <p:sldId id="261" r:id="rId7"/>
    <p:sldId id="270" r:id="rId8"/>
    <p:sldId id="277" r:id="rId9"/>
    <p:sldId id="278" r:id="rId10"/>
    <p:sldId id="262" r:id="rId11"/>
    <p:sldId id="263" r:id="rId12"/>
    <p:sldId id="271" r:id="rId13"/>
    <p:sldId id="272" r:id="rId14"/>
    <p:sldId id="264" r:id="rId15"/>
    <p:sldId id="265" r:id="rId16"/>
    <p:sldId id="266" r:id="rId17"/>
    <p:sldId id="279" r:id="rId18"/>
    <p:sldId id="274" r:id="rId19"/>
    <p:sldId id="276" r:id="rId20"/>
    <p:sldId id="267" r:id="rId21"/>
    <p:sldId id="26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8F0C47-76EE-493E-B29C-53C445E1087D}" v="74" dt="2025-10-15T20:14:21.238"/>
    <p1510:client id="{546A8350-EC60-429C-9BC8-0B253CE6AD38}" v="10" dt="2025-10-15T20:18:32.1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2" d="100"/>
          <a:sy n="82" d="100"/>
        </p:scale>
        <p:origin x="67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A2080A17-C5D6-4BCC-A5B7-3F5014CA3107}" type="datetimeFigureOut">
              <a:rPr lang="en-IN" smtClean="0"/>
              <a:t>16-10-2025</a:t>
            </a:fld>
            <a:endParaRPr lang="en-IN"/>
          </a:p>
        </p:txBody>
      </p:sp>
      <p:sp>
        <p:nvSpPr>
          <p:cNvPr id="5" name="Footer Placeholder 4"/>
          <p:cNvSpPr>
            <a:spLocks noGrp="1"/>
          </p:cNvSpPr>
          <p:nvPr>
            <p:ph type="ftr" sz="quarter" idx="11"/>
          </p:nvPr>
        </p:nvSpPr>
        <p:spPr>
          <a:xfrm>
            <a:off x="1876424" y="5410201"/>
            <a:ext cx="5124886" cy="365125"/>
          </a:xfrm>
        </p:spPr>
        <p:txBody>
          <a:bodyPr/>
          <a:lstStyle/>
          <a:p>
            <a:endParaRPr lang="en-IN"/>
          </a:p>
        </p:txBody>
      </p:sp>
      <p:sp>
        <p:nvSpPr>
          <p:cNvPr id="6" name="Slide Number Placeholder 5"/>
          <p:cNvSpPr>
            <a:spLocks noGrp="1"/>
          </p:cNvSpPr>
          <p:nvPr>
            <p:ph type="sldNum" sz="quarter" idx="12"/>
          </p:nvPr>
        </p:nvSpPr>
        <p:spPr>
          <a:xfrm>
            <a:off x="9896911" y="5410199"/>
            <a:ext cx="771089" cy="365125"/>
          </a:xfrm>
        </p:spPr>
        <p:txBody>
          <a:bodyPr/>
          <a:lstStyle/>
          <a:p>
            <a:fld id="{635AF759-2E14-4594-8961-FF928186C43F}" type="slidenum">
              <a:rPr lang="en-IN" smtClean="0"/>
              <a:t>‹#›</a:t>
            </a:fld>
            <a:endParaRPr lang="en-IN"/>
          </a:p>
        </p:txBody>
      </p:sp>
    </p:spTree>
    <p:extLst>
      <p:ext uri="{BB962C8B-B14F-4D97-AF65-F5344CB8AC3E}">
        <p14:creationId xmlns:p14="http://schemas.microsoft.com/office/powerpoint/2010/main" val="1700956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080A17-C5D6-4BCC-A5B7-3F5014CA3107}" type="datetimeFigureOut">
              <a:rPr lang="en-IN" smtClean="0"/>
              <a:t>16-10-2025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35AF759-2E14-4594-8961-FF928186C43F}" type="slidenum">
              <a:rPr lang="en-IN" smtClean="0"/>
              <a:t>‹#›</a:t>
            </a:fld>
            <a:endParaRPr lang="en-IN"/>
          </a:p>
        </p:txBody>
      </p:sp>
    </p:spTree>
    <p:extLst>
      <p:ext uri="{BB962C8B-B14F-4D97-AF65-F5344CB8AC3E}">
        <p14:creationId xmlns:p14="http://schemas.microsoft.com/office/powerpoint/2010/main" val="4202645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2080A17-C5D6-4BCC-A5B7-3F5014CA3107}" type="datetimeFigureOut">
              <a:rPr lang="en-IN" smtClean="0"/>
              <a:t>16-10-2025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35AF759-2E14-4594-8961-FF928186C43F}" type="slidenum">
              <a:rPr lang="en-IN" smtClean="0"/>
              <a:t>‹#›</a:t>
            </a:fld>
            <a:endParaRPr lang="en-IN"/>
          </a:p>
        </p:txBody>
      </p:sp>
    </p:spTree>
    <p:extLst>
      <p:ext uri="{BB962C8B-B14F-4D97-AF65-F5344CB8AC3E}">
        <p14:creationId xmlns:p14="http://schemas.microsoft.com/office/powerpoint/2010/main" val="1683189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2080A17-C5D6-4BCC-A5B7-3F5014CA3107}" type="datetimeFigureOut">
              <a:rPr lang="en-IN" smtClean="0"/>
              <a:t>16-10-2025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35AF759-2E14-4594-8961-FF928186C43F}" type="slidenum">
              <a:rPr lang="en-IN" smtClean="0"/>
              <a:t>‹#›</a:t>
            </a:fld>
            <a:endParaRPr lang="en-IN"/>
          </a:p>
        </p:txBody>
      </p:sp>
    </p:spTree>
    <p:extLst>
      <p:ext uri="{BB962C8B-B14F-4D97-AF65-F5344CB8AC3E}">
        <p14:creationId xmlns:p14="http://schemas.microsoft.com/office/powerpoint/2010/main" val="37776543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2080A17-C5D6-4BCC-A5B7-3F5014CA3107}" type="datetimeFigureOut">
              <a:rPr lang="en-IN" smtClean="0"/>
              <a:t>16-10-2025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35AF759-2E14-4594-8961-FF928186C43F}" type="slidenum">
              <a:rPr lang="en-IN" smtClean="0"/>
              <a:t>‹#›</a:t>
            </a:fld>
            <a:endParaRPr lang="en-IN"/>
          </a:p>
        </p:txBody>
      </p:sp>
    </p:spTree>
    <p:extLst>
      <p:ext uri="{BB962C8B-B14F-4D97-AF65-F5344CB8AC3E}">
        <p14:creationId xmlns:p14="http://schemas.microsoft.com/office/powerpoint/2010/main" val="585672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2080A17-C5D6-4BCC-A5B7-3F5014CA3107}" type="datetimeFigureOut">
              <a:rPr lang="en-IN" smtClean="0"/>
              <a:t>16-10-2025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35AF759-2E14-4594-8961-FF928186C43F}" type="slidenum">
              <a:rPr lang="en-IN" smtClean="0"/>
              <a:t>‹#›</a:t>
            </a:fld>
            <a:endParaRPr lang="en-IN"/>
          </a:p>
        </p:txBody>
      </p:sp>
    </p:spTree>
    <p:extLst>
      <p:ext uri="{BB962C8B-B14F-4D97-AF65-F5344CB8AC3E}">
        <p14:creationId xmlns:p14="http://schemas.microsoft.com/office/powerpoint/2010/main" val="15684734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080A17-C5D6-4BCC-A5B7-3F5014CA3107}" type="datetimeFigureOut">
              <a:rPr lang="en-IN" smtClean="0"/>
              <a:t>16-10-2025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35AF759-2E14-4594-8961-FF928186C43F}" type="slidenum">
              <a:rPr lang="en-IN" smtClean="0"/>
              <a:t>‹#›</a:t>
            </a:fld>
            <a:endParaRPr lang="en-IN"/>
          </a:p>
        </p:txBody>
      </p:sp>
    </p:spTree>
    <p:extLst>
      <p:ext uri="{BB962C8B-B14F-4D97-AF65-F5344CB8AC3E}">
        <p14:creationId xmlns:p14="http://schemas.microsoft.com/office/powerpoint/2010/main" val="144672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2080A17-C5D6-4BCC-A5B7-3F5014CA3107}" type="datetimeFigureOut">
              <a:rPr lang="en-IN" smtClean="0"/>
              <a:t>16-10-2025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35AF759-2E14-4594-8961-FF928186C43F}" type="slidenum">
              <a:rPr lang="en-IN" smtClean="0"/>
              <a:t>‹#›</a:t>
            </a:fld>
            <a:endParaRPr lang="en-IN"/>
          </a:p>
        </p:txBody>
      </p:sp>
    </p:spTree>
    <p:extLst>
      <p:ext uri="{BB962C8B-B14F-4D97-AF65-F5344CB8AC3E}">
        <p14:creationId xmlns:p14="http://schemas.microsoft.com/office/powerpoint/2010/main" val="3280598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2080A17-C5D6-4BCC-A5B7-3F5014CA3107}" type="datetimeFigureOut">
              <a:rPr lang="en-IN" smtClean="0"/>
              <a:t>16-10-2025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35AF759-2E14-4594-8961-FF928186C43F}" type="slidenum">
              <a:rPr lang="en-IN" smtClean="0"/>
              <a:t>‹#›</a:t>
            </a:fld>
            <a:endParaRPr lang="en-IN"/>
          </a:p>
        </p:txBody>
      </p:sp>
    </p:spTree>
    <p:extLst>
      <p:ext uri="{BB962C8B-B14F-4D97-AF65-F5344CB8AC3E}">
        <p14:creationId xmlns:p14="http://schemas.microsoft.com/office/powerpoint/2010/main" val="1117078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2080A17-C5D6-4BCC-A5B7-3F5014CA3107}" type="datetimeFigureOut">
              <a:rPr lang="en-IN" smtClean="0"/>
              <a:t>16-10-2025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35AF759-2E14-4594-8961-FF928186C43F}" type="slidenum">
              <a:rPr lang="en-IN" smtClean="0"/>
              <a:t>‹#›</a:t>
            </a:fld>
            <a:endParaRPr lang="en-IN"/>
          </a:p>
        </p:txBody>
      </p:sp>
    </p:spTree>
    <p:extLst>
      <p:ext uri="{BB962C8B-B14F-4D97-AF65-F5344CB8AC3E}">
        <p14:creationId xmlns:p14="http://schemas.microsoft.com/office/powerpoint/2010/main" val="1724611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2080A17-C5D6-4BCC-A5B7-3F5014CA3107}" type="datetimeFigureOut">
              <a:rPr lang="en-IN" smtClean="0"/>
              <a:t>16-10-2025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35AF759-2E14-4594-8961-FF928186C43F}" type="slidenum">
              <a:rPr lang="en-IN" smtClean="0"/>
              <a:t>‹#›</a:t>
            </a:fld>
            <a:endParaRPr lang="en-IN"/>
          </a:p>
        </p:txBody>
      </p:sp>
    </p:spTree>
    <p:extLst>
      <p:ext uri="{BB962C8B-B14F-4D97-AF65-F5344CB8AC3E}">
        <p14:creationId xmlns:p14="http://schemas.microsoft.com/office/powerpoint/2010/main" val="17366474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2080A17-C5D6-4BCC-A5B7-3F5014CA3107}" type="datetimeFigureOut">
              <a:rPr lang="en-IN" smtClean="0"/>
              <a:t>16-10-2025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35AF759-2E14-4594-8961-FF928186C43F}" type="slidenum">
              <a:rPr lang="en-IN" smtClean="0"/>
              <a:t>‹#›</a:t>
            </a:fld>
            <a:endParaRPr lang="en-IN"/>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9800387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2080A17-C5D6-4BCC-A5B7-3F5014CA3107}" type="datetimeFigureOut">
              <a:rPr lang="en-IN" smtClean="0"/>
              <a:t>16-10-2025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35AF759-2E14-4594-8961-FF928186C43F}" type="slidenum">
              <a:rPr lang="en-IN" smtClean="0"/>
              <a:t>‹#›</a:t>
            </a:fld>
            <a:endParaRPr lang="en-IN"/>
          </a:p>
        </p:txBody>
      </p:sp>
    </p:spTree>
    <p:extLst>
      <p:ext uri="{BB962C8B-B14F-4D97-AF65-F5344CB8AC3E}">
        <p14:creationId xmlns:p14="http://schemas.microsoft.com/office/powerpoint/2010/main" val="9497418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A2080A17-C5D6-4BCC-A5B7-3F5014CA3107}" type="datetimeFigureOut">
              <a:rPr lang="en-IN" smtClean="0"/>
              <a:t>16-10-2025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35AF759-2E14-4594-8961-FF928186C43F}" type="slidenum">
              <a:rPr lang="en-IN" smtClean="0"/>
              <a:t>‹#›</a:t>
            </a:fld>
            <a:endParaRPr lang="en-IN"/>
          </a:p>
        </p:txBody>
      </p:sp>
    </p:spTree>
    <p:extLst>
      <p:ext uri="{BB962C8B-B14F-4D97-AF65-F5344CB8AC3E}">
        <p14:creationId xmlns:p14="http://schemas.microsoft.com/office/powerpoint/2010/main" val="12332883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A2080A17-C5D6-4BCC-A5B7-3F5014CA3107}" type="datetimeFigureOut">
              <a:rPr lang="en-IN" smtClean="0"/>
              <a:t>16-10-2025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35AF759-2E14-4594-8961-FF928186C43F}" type="slidenum">
              <a:rPr lang="en-IN" smtClean="0"/>
              <a:t>‹#›</a:t>
            </a:fld>
            <a:endParaRPr lang="en-IN"/>
          </a:p>
        </p:txBody>
      </p:sp>
    </p:spTree>
    <p:extLst>
      <p:ext uri="{BB962C8B-B14F-4D97-AF65-F5344CB8AC3E}">
        <p14:creationId xmlns:p14="http://schemas.microsoft.com/office/powerpoint/2010/main" val="16727524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080A17-C5D6-4BCC-A5B7-3F5014CA3107}" type="datetimeFigureOut">
              <a:rPr lang="en-IN" smtClean="0"/>
              <a:t>16-10-2025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35AF759-2E14-4594-8961-FF928186C43F}" type="slidenum">
              <a:rPr lang="en-IN" smtClean="0"/>
              <a:t>‹#›</a:t>
            </a:fld>
            <a:endParaRPr lang="en-IN"/>
          </a:p>
        </p:txBody>
      </p:sp>
    </p:spTree>
    <p:extLst>
      <p:ext uri="{BB962C8B-B14F-4D97-AF65-F5344CB8AC3E}">
        <p14:creationId xmlns:p14="http://schemas.microsoft.com/office/powerpoint/2010/main" val="34698172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080A17-C5D6-4BCC-A5B7-3F5014CA3107}" type="datetimeFigureOut">
              <a:rPr lang="en-IN" smtClean="0"/>
              <a:t>16-10-2025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35AF759-2E14-4594-8961-FF928186C43F}" type="slidenum">
              <a:rPr lang="en-IN" smtClean="0"/>
              <a:t>‹#›</a:t>
            </a:fld>
            <a:endParaRPr lang="en-IN"/>
          </a:p>
        </p:txBody>
      </p:sp>
    </p:spTree>
    <p:extLst>
      <p:ext uri="{BB962C8B-B14F-4D97-AF65-F5344CB8AC3E}">
        <p14:creationId xmlns:p14="http://schemas.microsoft.com/office/powerpoint/2010/main" val="2015107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A2080A17-C5D6-4BCC-A5B7-3F5014CA3107}" type="datetimeFigureOut">
              <a:rPr lang="en-IN" smtClean="0"/>
              <a:t>16-10-2025</a:t>
            </a:fld>
            <a:endParaRPr lang="en-IN"/>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35AF759-2E14-4594-8961-FF928186C43F}" type="slidenum">
              <a:rPr lang="en-IN" smtClean="0"/>
              <a:t>‹#›</a:t>
            </a:fld>
            <a:endParaRPr lang="en-IN"/>
          </a:p>
        </p:txBody>
      </p:sp>
    </p:spTree>
    <p:extLst>
      <p:ext uri="{BB962C8B-B14F-4D97-AF65-F5344CB8AC3E}">
        <p14:creationId xmlns:p14="http://schemas.microsoft.com/office/powerpoint/2010/main" val="2604239329"/>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34;p1">
            <a:extLst>
              <a:ext uri="{FF2B5EF4-FFF2-40B4-BE49-F238E27FC236}">
                <a16:creationId xmlns:a16="http://schemas.microsoft.com/office/drawing/2014/main" id="{F1BCA238-B9F5-12EB-C90D-39EE2E0FDABD}"/>
              </a:ext>
            </a:extLst>
          </p:cNvPr>
          <p:cNvSpPr/>
          <p:nvPr/>
        </p:nvSpPr>
        <p:spPr>
          <a:xfrm>
            <a:off x="1449707" y="65792"/>
            <a:ext cx="9587059" cy="6061619"/>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None/>
            </a:pPr>
            <a:endParaRPr lang="en-US" sz="2200" b="0" i="0" u="none" strike="noStrike" cap="none" dirty="0">
              <a:solidFill>
                <a:schemeClr val="lt1"/>
              </a:solidFill>
              <a:latin typeface="Times New Roman" panose="02020603050405020304" pitchFamily="18" charset="0"/>
              <a:ea typeface="Twentieth Century"/>
              <a:cs typeface="Times New Roman" panose="02020603050405020304" pitchFamily="18" charset="0"/>
              <a:sym typeface="Twentieth Century"/>
            </a:endParaRPr>
          </a:p>
          <a:p>
            <a:pPr marL="0" marR="0" lvl="0" indent="0" algn="ctr" rtl="0">
              <a:lnSpc>
                <a:spcPct val="90000"/>
              </a:lnSpc>
              <a:spcBef>
                <a:spcPts val="0"/>
              </a:spcBef>
              <a:spcAft>
                <a:spcPts val="0"/>
              </a:spcAft>
              <a:buNone/>
            </a:pPr>
            <a:r>
              <a:rPr lang="en-US" sz="2200" b="0" i="0" u="none" strike="noStrike" cap="none" dirty="0">
                <a:solidFill>
                  <a:schemeClr val="lt1"/>
                </a:solidFill>
                <a:latin typeface="Times New Roman" panose="02020603050405020304" pitchFamily="18" charset="0"/>
                <a:ea typeface="Twentieth Century"/>
                <a:cs typeface="Times New Roman" panose="02020603050405020304" pitchFamily="18" charset="0"/>
                <a:sym typeface="Twentieth Century"/>
              </a:rPr>
              <a:t>A Project  On</a:t>
            </a:r>
            <a:endParaRPr dirty="0">
              <a:latin typeface="Times New Roman" panose="02020603050405020304" pitchFamily="18" charset="0"/>
              <a:cs typeface="Times New Roman" panose="02020603050405020304" pitchFamily="18" charset="0"/>
            </a:endParaRPr>
          </a:p>
          <a:p>
            <a:pPr marL="0" marR="0" lvl="0" indent="0" algn="ctr" rtl="0">
              <a:lnSpc>
                <a:spcPct val="90000"/>
              </a:lnSpc>
              <a:spcBef>
                <a:spcPts val="0"/>
              </a:spcBef>
              <a:spcAft>
                <a:spcPts val="0"/>
              </a:spcAft>
              <a:buNone/>
            </a:pPr>
            <a:r>
              <a:rPr lang="en-US" sz="2200" b="1" i="0" u="none" strike="noStrike" cap="none" dirty="0">
                <a:solidFill>
                  <a:schemeClr val="lt1"/>
                </a:solidFill>
                <a:latin typeface="Times New Roman" panose="02020603050405020304" pitchFamily="18" charset="0"/>
                <a:ea typeface="Cambria"/>
                <a:cs typeface="Times New Roman" panose="02020603050405020304" pitchFamily="18" charset="0"/>
                <a:sym typeface="Cambria"/>
              </a:rPr>
              <a:t>“AntarAalay.ai: AI-Powered Vastu Interior Design Platform.”</a:t>
            </a:r>
          </a:p>
          <a:p>
            <a:pPr marL="0" marR="0" lvl="0" indent="0" algn="ctr" rtl="0">
              <a:lnSpc>
                <a:spcPct val="90000"/>
              </a:lnSpc>
              <a:spcBef>
                <a:spcPts val="0"/>
              </a:spcBef>
              <a:spcAft>
                <a:spcPts val="0"/>
              </a:spcAft>
              <a:buNone/>
            </a:pPr>
            <a:endParaRPr lang="en-US" sz="2200" b="1" i="0" u="none" strike="noStrike" cap="none" dirty="0">
              <a:solidFill>
                <a:schemeClr val="lt1"/>
              </a:solidFill>
              <a:latin typeface="Times New Roman" panose="02020603050405020304" pitchFamily="18" charset="0"/>
              <a:ea typeface="Twentieth Century"/>
              <a:cs typeface="Times New Roman" panose="02020603050405020304" pitchFamily="18" charset="0"/>
              <a:sym typeface="Twentieth Century"/>
            </a:endParaRPr>
          </a:p>
          <a:p>
            <a:pPr marL="0" marR="0" lvl="0" indent="0" algn="ctr" rtl="0">
              <a:lnSpc>
                <a:spcPct val="120000"/>
              </a:lnSpc>
              <a:spcBef>
                <a:spcPts val="0"/>
              </a:spcBef>
              <a:spcAft>
                <a:spcPts val="0"/>
              </a:spcAft>
              <a:buNone/>
            </a:pPr>
            <a:r>
              <a:rPr lang="en-US" sz="2200" b="0" i="0" u="none" strike="noStrike" cap="none" dirty="0">
                <a:solidFill>
                  <a:schemeClr val="lt1"/>
                </a:solidFill>
                <a:latin typeface="Times New Roman" panose="02020603050405020304" pitchFamily="18" charset="0"/>
                <a:ea typeface="Cambria"/>
                <a:cs typeface="Times New Roman" panose="02020603050405020304" pitchFamily="18" charset="0"/>
                <a:sym typeface="Cambria"/>
              </a:rPr>
              <a:t>Presented by</a:t>
            </a:r>
            <a:endParaRPr dirty="0">
              <a:latin typeface="Times New Roman" panose="02020603050405020304" pitchFamily="18" charset="0"/>
              <a:cs typeface="Times New Roman" panose="02020603050405020304" pitchFamily="18" charset="0"/>
            </a:endParaRPr>
          </a:p>
          <a:p>
            <a:pPr marL="0" marR="0" lvl="1" indent="0" algn="ctr" rtl="0">
              <a:lnSpc>
                <a:spcPct val="120000"/>
              </a:lnSpc>
              <a:spcBef>
                <a:spcPts val="0"/>
              </a:spcBef>
              <a:spcAft>
                <a:spcPts val="0"/>
              </a:spcAft>
              <a:buNone/>
            </a:pPr>
            <a:r>
              <a:rPr lang="en-US" sz="2400" b="0" i="0" u="none" strike="noStrike" cap="none" dirty="0">
                <a:solidFill>
                  <a:schemeClr val="lt1"/>
                </a:solidFill>
                <a:latin typeface="Times New Roman" panose="02020603050405020304" pitchFamily="18" charset="0"/>
                <a:ea typeface="Cambria"/>
                <a:cs typeface="Times New Roman" panose="02020603050405020304" pitchFamily="18" charset="0"/>
                <a:sym typeface="Cambria"/>
              </a:rPr>
              <a:t>Mr. </a:t>
            </a:r>
            <a:r>
              <a:rPr lang="en-US" sz="2400" dirty="0">
                <a:solidFill>
                  <a:schemeClr val="lt1"/>
                </a:solidFill>
                <a:latin typeface="Times New Roman" panose="02020603050405020304" pitchFamily="18" charset="0"/>
                <a:ea typeface="Cambria"/>
                <a:cs typeface="Times New Roman" panose="02020603050405020304" pitchFamily="18" charset="0"/>
                <a:sym typeface="Cambria"/>
              </a:rPr>
              <a:t>Soham Santosh Gulhane </a:t>
            </a:r>
            <a:r>
              <a:rPr lang="en-US" sz="1700" b="0" i="0" u="none" strike="noStrike" cap="none" dirty="0">
                <a:solidFill>
                  <a:schemeClr val="lt1"/>
                </a:solidFill>
                <a:latin typeface="Times New Roman" panose="02020603050405020304" pitchFamily="18" charset="0"/>
                <a:ea typeface="Cambria"/>
                <a:cs typeface="Times New Roman" panose="02020603050405020304" pitchFamily="18" charset="0"/>
                <a:sym typeface="Cambria"/>
              </a:rPr>
              <a:t>Roll No. </a:t>
            </a:r>
            <a:r>
              <a:rPr lang="en-IN" sz="1700" b="0" i="0" u="none" strike="noStrike" cap="none" dirty="0">
                <a:solidFill>
                  <a:schemeClr val="lt1"/>
                </a:solidFill>
                <a:latin typeface="Times New Roman" panose="02020603050405020304" pitchFamily="18" charset="0"/>
                <a:ea typeface="Cambria"/>
                <a:cs typeface="Times New Roman" panose="02020603050405020304" pitchFamily="18" charset="0"/>
                <a:sym typeface="Cambria"/>
              </a:rPr>
              <a:t>BEBD22648</a:t>
            </a:r>
            <a:endParaRPr dirty="0">
              <a:latin typeface="Times New Roman" panose="02020603050405020304" pitchFamily="18" charset="0"/>
              <a:cs typeface="Times New Roman" panose="02020603050405020304" pitchFamily="18" charset="0"/>
            </a:endParaRPr>
          </a:p>
          <a:p>
            <a:pPr lvl="1" algn="ctr">
              <a:lnSpc>
                <a:spcPct val="120000"/>
              </a:lnSpc>
            </a:pPr>
            <a:r>
              <a:rPr lang="en-US" sz="2400" dirty="0">
                <a:solidFill>
                  <a:schemeClr val="lt1"/>
                </a:solidFill>
                <a:latin typeface="Times New Roman" panose="02020603050405020304" pitchFamily="18" charset="0"/>
                <a:ea typeface="Cambria"/>
                <a:cs typeface="Times New Roman" panose="02020603050405020304" pitchFamily="18" charset="0"/>
                <a:sym typeface="Cambria"/>
              </a:rPr>
              <a:t>Mr. Sujit </a:t>
            </a:r>
            <a:r>
              <a:rPr lang="en-US" sz="2400" dirty="0" err="1">
                <a:solidFill>
                  <a:schemeClr val="lt1"/>
                </a:solidFill>
                <a:latin typeface="Times New Roman" panose="02020603050405020304" pitchFamily="18" charset="0"/>
                <a:ea typeface="Cambria"/>
                <a:cs typeface="Times New Roman" panose="02020603050405020304" pitchFamily="18" charset="0"/>
                <a:sym typeface="Cambria"/>
              </a:rPr>
              <a:t>Manojrao</a:t>
            </a:r>
            <a:r>
              <a:rPr lang="en-US" sz="2400" dirty="0">
                <a:solidFill>
                  <a:schemeClr val="lt1"/>
                </a:solidFill>
                <a:latin typeface="Times New Roman" panose="02020603050405020304" pitchFamily="18" charset="0"/>
                <a:ea typeface="Cambria"/>
                <a:cs typeface="Times New Roman" panose="02020603050405020304" pitchFamily="18" charset="0"/>
                <a:sym typeface="Cambria"/>
              </a:rPr>
              <a:t> Nirmal </a:t>
            </a:r>
            <a:r>
              <a:rPr lang="en-US" sz="1700" dirty="0">
                <a:solidFill>
                  <a:schemeClr val="lt1"/>
                </a:solidFill>
                <a:latin typeface="Times New Roman" panose="02020603050405020304" pitchFamily="18" charset="0"/>
                <a:ea typeface="Cambria"/>
                <a:cs typeface="Times New Roman" panose="02020603050405020304" pitchFamily="18" charset="0"/>
                <a:sym typeface="Cambria"/>
              </a:rPr>
              <a:t>Roll No. BEBD22605</a:t>
            </a:r>
            <a:endParaRPr lang="en-US" sz="2400" dirty="0">
              <a:latin typeface="Times New Roman" panose="02020603050405020304" pitchFamily="18" charset="0"/>
              <a:cs typeface="Times New Roman" panose="02020603050405020304" pitchFamily="18" charset="0"/>
            </a:endParaRPr>
          </a:p>
          <a:p>
            <a:pPr lvl="1" algn="ctr">
              <a:lnSpc>
                <a:spcPct val="120000"/>
              </a:lnSpc>
            </a:pPr>
            <a:r>
              <a:rPr lang="en-US" sz="2400" dirty="0">
                <a:solidFill>
                  <a:schemeClr val="lt1"/>
                </a:solidFill>
                <a:latin typeface="Times New Roman" panose="02020603050405020304" pitchFamily="18" charset="0"/>
                <a:ea typeface="Cambria"/>
                <a:cs typeface="Times New Roman" panose="02020603050405020304" pitchFamily="18" charset="0"/>
                <a:sym typeface="Cambria"/>
              </a:rPr>
              <a:t>Mr. Suhani Satish Yadav </a:t>
            </a:r>
            <a:r>
              <a:rPr lang="en-US" sz="1700" dirty="0">
                <a:solidFill>
                  <a:schemeClr val="lt1"/>
                </a:solidFill>
                <a:latin typeface="Times New Roman" panose="02020603050405020304" pitchFamily="18" charset="0"/>
                <a:ea typeface="Cambria"/>
                <a:cs typeface="Times New Roman" panose="02020603050405020304" pitchFamily="18" charset="0"/>
                <a:sym typeface="Cambria"/>
              </a:rPr>
              <a:t>Roll No. BEBD22577</a:t>
            </a:r>
          </a:p>
          <a:p>
            <a:pPr lvl="1" algn="ctr">
              <a:lnSpc>
                <a:spcPct val="120000"/>
              </a:lnSpc>
            </a:pPr>
            <a:r>
              <a:rPr lang="en-US" sz="2400" dirty="0">
                <a:solidFill>
                  <a:schemeClr val="lt1"/>
                </a:solidFill>
                <a:latin typeface="Times New Roman" panose="02020603050405020304" pitchFamily="18" charset="0"/>
                <a:ea typeface="Cambria"/>
                <a:cs typeface="Times New Roman" panose="02020603050405020304" pitchFamily="18" charset="0"/>
                <a:sym typeface="Cambria"/>
              </a:rPr>
              <a:t>Mr. Swarup Satish </a:t>
            </a:r>
            <a:r>
              <a:rPr lang="en-US" sz="2400" dirty="0" err="1">
                <a:solidFill>
                  <a:schemeClr val="lt1"/>
                </a:solidFill>
                <a:latin typeface="Times New Roman" panose="02020603050405020304" pitchFamily="18" charset="0"/>
                <a:ea typeface="Cambria"/>
                <a:cs typeface="Times New Roman" panose="02020603050405020304" pitchFamily="18" charset="0"/>
                <a:sym typeface="Cambria"/>
              </a:rPr>
              <a:t>Mandhare</a:t>
            </a:r>
            <a:r>
              <a:rPr lang="en-US" sz="2400" dirty="0">
                <a:solidFill>
                  <a:schemeClr val="lt1"/>
                </a:solidFill>
                <a:latin typeface="Times New Roman" panose="02020603050405020304" pitchFamily="18" charset="0"/>
                <a:ea typeface="Cambria"/>
                <a:cs typeface="Times New Roman" panose="02020603050405020304" pitchFamily="18" charset="0"/>
                <a:sym typeface="Cambria"/>
              </a:rPr>
              <a:t> </a:t>
            </a:r>
            <a:r>
              <a:rPr lang="en-US" sz="1700" dirty="0">
                <a:solidFill>
                  <a:schemeClr val="lt1"/>
                </a:solidFill>
                <a:latin typeface="Times New Roman" panose="02020603050405020304" pitchFamily="18" charset="0"/>
                <a:ea typeface="Cambria"/>
                <a:cs typeface="Times New Roman" panose="02020603050405020304" pitchFamily="18" charset="0"/>
                <a:sym typeface="Cambria"/>
              </a:rPr>
              <a:t>Roll No. BEBD22643</a:t>
            </a:r>
            <a:endParaRPr lang="en-US" sz="2400" dirty="0">
              <a:latin typeface="Times New Roman" panose="02020603050405020304" pitchFamily="18" charset="0"/>
              <a:cs typeface="Times New Roman" panose="02020603050405020304" pitchFamily="18" charset="0"/>
            </a:endParaRPr>
          </a:p>
          <a:p>
            <a:pPr marL="0" marR="0" lvl="0" indent="0" algn="ctr" rtl="0">
              <a:lnSpc>
                <a:spcPct val="90000"/>
              </a:lnSpc>
              <a:spcBef>
                <a:spcPts val="0"/>
              </a:spcBef>
              <a:spcAft>
                <a:spcPts val="0"/>
              </a:spcAft>
              <a:buNone/>
            </a:pPr>
            <a:endParaRPr sz="2200" b="0" i="0" u="none" strike="noStrike" cap="none" dirty="0">
              <a:solidFill>
                <a:schemeClr val="lt1"/>
              </a:solidFill>
              <a:latin typeface="Times New Roman" panose="02020603050405020304" pitchFamily="18" charset="0"/>
              <a:ea typeface="Cambria"/>
              <a:cs typeface="Times New Roman" panose="02020603050405020304" pitchFamily="18" charset="0"/>
              <a:sym typeface="Cambria"/>
            </a:endParaRPr>
          </a:p>
          <a:p>
            <a:pPr marL="0" marR="0" lvl="0" indent="0" algn="ctr" rtl="0">
              <a:lnSpc>
                <a:spcPct val="90000"/>
              </a:lnSpc>
              <a:spcBef>
                <a:spcPts val="0"/>
              </a:spcBef>
              <a:spcAft>
                <a:spcPts val="0"/>
              </a:spcAft>
              <a:buNone/>
            </a:pPr>
            <a:r>
              <a:rPr lang="en-US" sz="2400" b="1" i="0" u="none" strike="noStrike" cap="none" dirty="0">
                <a:solidFill>
                  <a:schemeClr val="lt1"/>
                </a:solidFill>
                <a:latin typeface="Times New Roman" panose="02020603050405020304" pitchFamily="18" charset="0"/>
                <a:ea typeface="Twentieth Century"/>
                <a:cs typeface="Times New Roman" panose="02020603050405020304" pitchFamily="18" charset="0"/>
                <a:sym typeface="Twentieth Century"/>
              </a:rPr>
              <a:t>Department of Artificial Intelligence and Data Science</a:t>
            </a:r>
            <a:endParaRPr sz="2400" b="0" i="0" u="none" strike="noStrike" cap="none" dirty="0">
              <a:solidFill>
                <a:schemeClr val="lt1"/>
              </a:solidFill>
              <a:latin typeface="Times New Roman" panose="02020603050405020304" pitchFamily="18" charset="0"/>
              <a:ea typeface="Twentieth Century"/>
              <a:cs typeface="Times New Roman" panose="02020603050405020304" pitchFamily="18" charset="0"/>
              <a:sym typeface="Twentieth Century"/>
            </a:endParaRPr>
          </a:p>
          <a:p>
            <a:pPr marL="0" marR="0" lvl="0" indent="0" algn="ctr" rtl="0">
              <a:spcBef>
                <a:spcPts val="0"/>
              </a:spcBef>
              <a:spcAft>
                <a:spcPts val="0"/>
              </a:spcAft>
              <a:buNone/>
            </a:pPr>
            <a:endParaRPr sz="2400" b="1" i="0" u="none" strike="noStrike" cap="none" dirty="0">
              <a:solidFill>
                <a:schemeClr val="lt1"/>
              </a:solidFill>
              <a:latin typeface="Times New Roman" panose="02020603050405020304" pitchFamily="18" charset="0"/>
              <a:ea typeface="Twentieth Century"/>
              <a:cs typeface="Times New Roman" panose="02020603050405020304" pitchFamily="18" charset="0"/>
              <a:sym typeface="Twentieth Century"/>
            </a:endParaRPr>
          </a:p>
          <a:p>
            <a:pPr marL="0" marR="0" lvl="0" indent="0" algn="ctr" rtl="0">
              <a:spcBef>
                <a:spcPts val="0"/>
              </a:spcBef>
              <a:spcAft>
                <a:spcPts val="0"/>
              </a:spcAft>
              <a:buNone/>
            </a:pPr>
            <a:r>
              <a:rPr lang="en-US" sz="2400" b="1" i="0" u="none" strike="noStrike" cap="none" dirty="0">
                <a:solidFill>
                  <a:schemeClr val="lt1"/>
                </a:solidFill>
                <a:latin typeface="Times New Roman" panose="02020603050405020304" pitchFamily="18" charset="0"/>
                <a:ea typeface="Twentieth Century"/>
                <a:cs typeface="Times New Roman" panose="02020603050405020304" pitchFamily="18" charset="0"/>
                <a:sym typeface="Twentieth Century"/>
              </a:rPr>
              <a:t>Dr. D. Y. Patil Institute of Engineering, Management &amp;</a:t>
            </a:r>
            <a:endParaRPr sz="2400" b="0" i="0" u="none" strike="noStrike" cap="none" dirty="0">
              <a:solidFill>
                <a:schemeClr val="lt1"/>
              </a:solidFill>
              <a:latin typeface="Times New Roman" panose="02020603050405020304" pitchFamily="18" charset="0"/>
              <a:ea typeface="Twentieth Century"/>
              <a:cs typeface="Times New Roman" panose="02020603050405020304" pitchFamily="18" charset="0"/>
              <a:sym typeface="Twentieth Century"/>
            </a:endParaRPr>
          </a:p>
          <a:p>
            <a:pPr marL="0" marR="0" lvl="0" indent="0" algn="ctr" rtl="0">
              <a:spcBef>
                <a:spcPts val="0"/>
              </a:spcBef>
              <a:spcAft>
                <a:spcPts val="0"/>
              </a:spcAft>
              <a:buNone/>
            </a:pPr>
            <a:r>
              <a:rPr lang="en-US" sz="2400" b="1" i="0" u="none" strike="noStrike" cap="none" dirty="0">
                <a:solidFill>
                  <a:schemeClr val="lt1"/>
                </a:solidFill>
                <a:latin typeface="Times New Roman" panose="02020603050405020304" pitchFamily="18" charset="0"/>
                <a:ea typeface="Twentieth Century"/>
                <a:cs typeface="Times New Roman" panose="02020603050405020304" pitchFamily="18" charset="0"/>
                <a:sym typeface="Twentieth Century"/>
              </a:rPr>
              <a:t>Research, </a:t>
            </a:r>
            <a:r>
              <a:rPr lang="en-US" sz="2400" b="1" i="0" u="none" strike="noStrike" cap="none" dirty="0" err="1">
                <a:solidFill>
                  <a:schemeClr val="lt1"/>
                </a:solidFill>
                <a:latin typeface="Times New Roman" panose="02020603050405020304" pitchFamily="18" charset="0"/>
                <a:ea typeface="Twentieth Century"/>
                <a:cs typeface="Times New Roman" panose="02020603050405020304" pitchFamily="18" charset="0"/>
                <a:sym typeface="Twentieth Century"/>
              </a:rPr>
              <a:t>Akurdi</a:t>
            </a:r>
            <a:r>
              <a:rPr lang="en-US" sz="2400" b="1" i="0" u="none" strike="noStrike" cap="none" dirty="0">
                <a:solidFill>
                  <a:schemeClr val="lt1"/>
                </a:solidFill>
                <a:latin typeface="Times New Roman" panose="02020603050405020304" pitchFamily="18" charset="0"/>
                <a:ea typeface="Twentieth Century"/>
                <a:cs typeface="Times New Roman" panose="02020603050405020304" pitchFamily="18" charset="0"/>
                <a:sym typeface="Twentieth Century"/>
              </a:rPr>
              <a:t>, Pune-44</a:t>
            </a:r>
            <a:endParaRPr sz="2400" b="0" i="0" u="none" strike="noStrike" cap="none" dirty="0">
              <a:solidFill>
                <a:schemeClr val="lt1"/>
              </a:solidFill>
              <a:latin typeface="Times New Roman" panose="02020603050405020304" pitchFamily="18" charset="0"/>
              <a:ea typeface="Twentieth Century"/>
              <a:cs typeface="Times New Roman" panose="02020603050405020304" pitchFamily="18" charset="0"/>
              <a:sym typeface="Twentieth Century"/>
            </a:endParaRPr>
          </a:p>
          <a:p>
            <a:pPr marL="0" marR="0" lvl="0" indent="0" algn="ctr" rtl="0">
              <a:spcBef>
                <a:spcPts val="0"/>
              </a:spcBef>
              <a:spcAft>
                <a:spcPts val="0"/>
              </a:spcAft>
              <a:buNone/>
            </a:pPr>
            <a:r>
              <a:rPr lang="en-US" sz="2400" b="1" i="0" u="none" strike="noStrike" cap="none" dirty="0">
                <a:solidFill>
                  <a:schemeClr val="lt1"/>
                </a:solidFill>
                <a:latin typeface="Times New Roman" panose="02020603050405020304" pitchFamily="18" charset="0"/>
                <a:ea typeface="Twentieth Century"/>
                <a:cs typeface="Times New Roman" panose="02020603050405020304" pitchFamily="18" charset="0"/>
                <a:sym typeface="Twentieth Century"/>
              </a:rPr>
              <a:t>Academic Year 202</a:t>
            </a:r>
            <a:r>
              <a:rPr lang="en-US" sz="2400" b="1" dirty="0">
                <a:solidFill>
                  <a:schemeClr val="lt1"/>
                </a:solidFill>
                <a:latin typeface="Times New Roman" panose="02020603050405020304" pitchFamily="18" charset="0"/>
                <a:ea typeface="Twentieth Century"/>
                <a:cs typeface="Times New Roman" panose="02020603050405020304" pitchFamily="18" charset="0"/>
                <a:sym typeface="Twentieth Century"/>
              </a:rPr>
              <a:t>5</a:t>
            </a:r>
            <a:r>
              <a:rPr lang="en-US" sz="2400" b="1" i="0" u="none" strike="noStrike" cap="none" dirty="0">
                <a:solidFill>
                  <a:schemeClr val="lt1"/>
                </a:solidFill>
                <a:latin typeface="Times New Roman" panose="02020603050405020304" pitchFamily="18" charset="0"/>
                <a:ea typeface="Twentieth Century"/>
                <a:cs typeface="Times New Roman" panose="02020603050405020304" pitchFamily="18" charset="0"/>
                <a:sym typeface="Twentieth Century"/>
              </a:rPr>
              <a:t>-2</a:t>
            </a:r>
            <a:r>
              <a:rPr lang="en-US" sz="2400" b="1" dirty="0">
                <a:solidFill>
                  <a:schemeClr val="lt1"/>
                </a:solidFill>
                <a:latin typeface="Times New Roman" panose="02020603050405020304" pitchFamily="18" charset="0"/>
                <a:ea typeface="Twentieth Century"/>
                <a:cs typeface="Times New Roman" panose="02020603050405020304" pitchFamily="18" charset="0"/>
                <a:sym typeface="Twentieth Century"/>
              </a:rPr>
              <a:t>6</a:t>
            </a:r>
            <a:endParaRPr dirty="0">
              <a:latin typeface="Times New Roman" panose="02020603050405020304" pitchFamily="18" charset="0"/>
              <a:cs typeface="Times New Roman" panose="02020603050405020304" pitchFamily="18" charset="0"/>
            </a:endParaRPr>
          </a:p>
          <a:p>
            <a:pPr marL="0" marR="0" lvl="0" indent="0" algn="ctr" rtl="0">
              <a:spcBef>
                <a:spcPts val="0"/>
              </a:spcBef>
              <a:spcAft>
                <a:spcPts val="0"/>
              </a:spcAft>
              <a:buNone/>
            </a:pPr>
            <a:endParaRPr sz="2400" b="0" i="0" u="none" strike="noStrike" cap="none" dirty="0">
              <a:solidFill>
                <a:schemeClr val="lt1"/>
              </a:solidFill>
              <a:latin typeface="Times New Roman" panose="02020603050405020304" pitchFamily="18" charset="0"/>
              <a:ea typeface="Twentieth Century"/>
              <a:cs typeface="Times New Roman" panose="02020603050405020304" pitchFamily="18" charset="0"/>
              <a:sym typeface="Twentieth Century"/>
            </a:endParaRPr>
          </a:p>
          <a:p>
            <a:pPr marL="0" marR="0" lvl="0" indent="0" algn="ctr" rtl="0">
              <a:lnSpc>
                <a:spcPct val="30000"/>
              </a:lnSpc>
              <a:spcBef>
                <a:spcPts val="0"/>
              </a:spcBef>
              <a:spcAft>
                <a:spcPts val="0"/>
              </a:spcAft>
              <a:buNone/>
            </a:pPr>
            <a:r>
              <a:rPr lang="en-US" sz="1900" b="1" i="0" u="none" strike="noStrike" cap="none" dirty="0">
                <a:solidFill>
                  <a:schemeClr val="lt1"/>
                </a:solidFill>
                <a:latin typeface="Times New Roman" panose="02020603050405020304" pitchFamily="18" charset="0"/>
                <a:ea typeface="Cambria"/>
                <a:cs typeface="Times New Roman" panose="02020603050405020304" pitchFamily="18" charset="0"/>
                <a:sym typeface="Cambria"/>
              </a:rPr>
              <a:t>B.E. SEM I</a:t>
            </a:r>
            <a:endParaRP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0841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681776"/>
          </a:xfrm>
        </p:spPr>
        <p:txBody>
          <a:bodyPr/>
          <a:lstStyle/>
          <a:p>
            <a:r>
              <a:rPr lang="en-US" b="1" cap="small" dirty="0">
                <a:solidFill>
                  <a:schemeClr val="bg2">
                    <a:lumMod val="25000"/>
                  </a:schemeClr>
                </a:solidFill>
                <a:latin typeface="Times New Roman" pitchFamily="18" charset="0"/>
                <a:cs typeface="Times New Roman" pitchFamily="18" charset="0"/>
              </a:rPr>
              <a:t>Outlines:</a:t>
            </a:r>
            <a:endParaRPr lang="en-IN" dirty="0"/>
          </a:p>
        </p:txBody>
      </p:sp>
      <p:sp>
        <p:nvSpPr>
          <p:cNvPr id="3" name="Content Placeholder 2"/>
          <p:cNvSpPr>
            <a:spLocks noGrp="1"/>
          </p:cNvSpPr>
          <p:nvPr>
            <p:ph idx="1"/>
          </p:nvPr>
        </p:nvSpPr>
        <p:spPr>
          <a:xfrm>
            <a:off x="1074300" y="1426128"/>
            <a:ext cx="9905999" cy="4848838"/>
          </a:xfrm>
        </p:spPr>
        <p:txBody>
          <a:bodyPr>
            <a:normAutofit fontScale="55000" lnSpcReduction="20000"/>
          </a:bodyPr>
          <a:lstStyle/>
          <a:p>
            <a:r>
              <a:rPr lang="en-US" dirty="0">
                <a:latin typeface="Times New Roman" pitchFamily="18" charset="0"/>
                <a:cs typeface="Times New Roman" pitchFamily="18" charset="0"/>
              </a:rPr>
              <a:t>Introduction to the Domain</a:t>
            </a:r>
          </a:p>
          <a:p>
            <a:r>
              <a:rPr lang="en-US" dirty="0">
                <a:latin typeface="Times New Roman" pitchFamily="18" charset="0"/>
                <a:cs typeface="Times New Roman" pitchFamily="18" charset="0"/>
              </a:rPr>
              <a:t>Motivation</a:t>
            </a:r>
          </a:p>
          <a:p>
            <a:r>
              <a:rPr lang="en-US" dirty="0">
                <a:latin typeface="Times New Roman" pitchFamily="18" charset="0"/>
                <a:cs typeface="Times New Roman" pitchFamily="18" charset="0"/>
              </a:rPr>
              <a:t>Problem Statement</a:t>
            </a:r>
          </a:p>
          <a:p>
            <a:r>
              <a:rPr lang="en-US" dirty="0">
                <a:latin typeface="Times New Roman" pitchFamily="18" charset="0"/>
                <a:cs typeface="Times New Roman" pitchFamily="18" charset="0"/>
              </a:rPr>
              <a:t>Objectives </a:t>
            </a:r>
          </a:p>
          <a:p>
            <a:r>
              <a:rPr lang="en-US" dirty="0">
                <a:latin typeface="Times New Roman" pitchFamily="18" charset="0"/>
                <a:cs typeface="Times New Roman" pitchFamily="18" charset="0"/>
              </a:rPr>
              <a:t>Literature Review </a:t>
            </a:r>
          </a:p>
          <a:p>
            <a:r>
              <a:rPr lang="en-US" dirty="0">
                <a:latin typeface="Times New Roman" pitchFamily="18" charset="0"/>
                <a:cs typeface="Times New Roman" pitchFamily="18" charset="0"/>
              </a:rPr>
              <a:t>Technologies Used</a:t>
            </a:r>
          </a:p>
          <a:p>
            <a:r>
              <a:rPr lang="en-US" dirty="0">
                <a:latin typeface="Times New Roman" pitchFamily="18" charset="0"/>
                <a:cs typeface="Times New Roman" pitchFamily="18" charset="0"/>
              </a:rPr>
              <a:t>System Architecture</a:t>
            </a:r>
          </a:p>
          <a:p>
            <a:r>
              <a:rPr lang="en-US" dirty="0">
                <a:latin typeface="Times New Roman" pitchFamily="18" charset="0"/>
                <a:cs typeface="Times New Roman" pitchFamily="18" charset="0"/>
              </a:rPr>
              <a:t>UML Diagram</a:t>
            </a:r>
          </a:p>
          <a:p>
            <a:r>
              <a:rPr lang="en-US" dirty="0">
                <a:latin typeface="Times New Roman" pitchFamily="18" charset="0"/>
                <a:cs typeface="Times New Roman" pitchFamily="18" charset="0"/>
              </a:rPr>
              <a:t>Results and Discussion</a:t>
            </a:r>
          </a:p>
          <a:p>
            <a:r>
              <a:rPr lang="en-US" dirty="0">
                <a:latin typeface="Times New Roman" pitchFamily="18" charset="0"/>
                <a:cs typeface="Times New Roman" pitchFamily="18" charset="0"/>
              </a:rPr>
              <a:t>Applications</a:t>
            </a:r>
          </a:p>
          <a:p>
            <a:r>
              <a:rPr lang="en-US" dirty="0">
                <a:latin typeface="Times New Roman" pitchFamily="18" charset="0"/>
                <a:cs typeface="Times New Roman" pitchFamily="18" charset="0"/>
              </a:rPr>
              <a:t>Advantages &amp; Limitations</a:t>
            </a:r>
          </a:p>
          <a:p>
            <a:r>
              <a:rPr lang="en-US" dirty="0">
                <a:latin typeface="Times New Roman" pitchFamily="18" charset="0"/>
                <a:cs typeface="Times New Roman" pitchFamily="18" charset="0"/>
              </a:rPr>
              <a:t>References </a:t>
            </a:r>
          </a:p>
          <a:p>
            <a:r>
              <a:rPr lang="en-US" dirty="0">
                <a:latin typeface="Times New Roman" pitchFamily="18" charset="0"/>
                <a:cs typeface="Times New Roman" pitchFamily="18" charset="0"/>
              </a:rPr>
              <a:t>Annexure </a:t>
            </a:r>
          </a:p>
          <a:p>
            <a:pPr lvl="1"/>
            <a:r>
              <a:rPr lang="en-US" dirty="0">
                <a:latin typeface="Times New Roman" pitchFamily="18" charset="0"/>
                <a:cs typeface="Times New Roman" pitchFamily="18" charset="0"/>
              </a:rPr>
              <a:t>Copyright Details </a:t>
            </a:r>
          </a:p>
          <a:p>
            <a:pPr lvl="1"/>
            <a:r>
              <a:rPr lang="en-US" dirty="0">
                <a:latin typeface="Times New Roman" pitchFamily="18" charset="0"/>
                <a:cs typeface="Times New Roman" pitchFamily="18" charset="0"/>
              </a:rPr>
              <a:t>Paper Submitted Details </a:t>
            </a:r>
          </a:p>
          <a:p>
            <a:endParaRPr lang="en-US" dirty="0">
              <a:latin typeface="Times New Roman" pitchFamily="18" charset="0"/>
              <a:cs typeface="Times New Roman" pitchFamily="18" charset="0"/>
            </a:endParaRPr>
          </a:p>
          <a:p>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0160952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cap="small" dirty="0">
                <a:solidFill>
                  <a:schemeClr val="bg2">
                    <a:lumMod val="25000"/>
                  </a:schemeClr>
                </a:solidFill>
                <a:latin typeface="Times New Roman" pitchFamily="18" charset="0"/>
                <a:cs typeface="Times New Roman" pitchFamily="18" charset="0"/>
              </a:rPr>
              <a:t>Introduction</a:t>
            </a:r>
            <a:r>
              <a:rPr lang="en-US" b="1" dirty="0">
                <a:latin typeface="Times New Roman" pitchFamily="18" charset="0"/>
                <a:cs typeface="Times New Roman" pitchFamily="18" charset="0"/>
              </a:rPr>
              <a:t> </a:t>
            </a:r>
            <a:r>
              <a:rPr lang="en-US" b="1" cap="small" dirty="0">
                <a:solidFill>
                  <a:schemeClr val="bg2">
                    <a:lumMod val="25000"/>
                  </a:schemeClr>
                </a:solidFill>
                <a:latin typeface="Times New Roman" pitchFamily="18" charset="0"/>
                <a:cs typeface="Times New Roman" pitchFamily="18" charset="0"/>
              </a:rPr>
              <a:t>To The Domain:</a:t>
            </a:r>
            <a:endParaRPr lang="en-IN" b="1" cap="small" dirty="0">
              <a:solidFill>
                <a:schemeClr val="bg2">
                  <a:lumMod val="25000"/>
                </a:schemeClr>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D02454CB-B911-2AB3-A89B-BDADB0ADCD4B}"/>
              </a:ext>
            </a:extLst>
          </p:cNvPr>
          <p:cNvSpPr>
            <a:spLocks noGrp="1"/>
          </p:cNvSpPr>
          <p:nvPr>
            <p:ph idx="1"/>
          </p:nvPr>
        </p:nvSpPr>
        <p:spPr/>
        <p:txBody>
          <a:bodyPr>
            <a:normAutofit lnSpcReduction="10000"/>
          </a:bodyPr>
          <a:lstStyle/>
          <a:p>
            <a:pPr algn="just">
              <a:spcBef>
                <a:spcPts val="0"/>
              </a:spcBef>
              <a:buSzPts val="3000"/>
            </a:pPr>
            <a:r>
              <a:rPr lang="en-US" dirty="0">
                <a:latin typeface="Times New Roman" panose="02020603050405020304" pitchFamily="18" charset="0"/>
                <a:cs typeface="Times New Roman" panose="02020603050405020304" pitchFamily="18" charset="0"/>
              </a:rPr>
              <a:t>Interior design traditionally relies on creativity and human expertise. However, it often lacks data-driven precision, leading to inefficiencies in layout and space utilization. </a:t>
            </a:r>
          </a:p>
          <a:p>
            <a:pPr algn="just">
              <a:spcBef>
                <a:spcPts val="0"/>
              </a:spcBef>
              <a:buSzPts val="3000"/>
            </a:pPr>
            <a:r>
              <a:rPr lang="en-US" dirty="0">
                <a:latin typeface="Times New Roman" panose="02020603050405020304" pitchFamily="18" charset="0"/>
                <a:cs typeface="Times New Roman" panose="02020603050405020304" pitchFamily="18" charset="0"/>
              </a:rPr>
              <a:t>With the rise of AI and deep learning, interior design systems can now automate layout generation, balance functionality with aesthetics, and adapt designs to user preferences using real-time feedback. </a:t>
            </a:r>
          </a:p>
          <a:p>
            <a:pPr algn="just">
              <a:spcBef>
                <a:spcPts val="0"/>
              </a:spcBef>
              <a:buSzPts val="3000"/>
            </a:pPr>
            <a:r>
              <a:rPr lang="en-US" dirty="0">
                <a:latin typeface="Times New Roman" panose="02020603050405020304" pitchFamily="18" charset="0"/>
                <a:cs typeface="Times New Roman" panose="02020603050405020304" pitchFamily="18" charset="0"/>
              </a:rPr>
              <a:t>AI-driven approaches integrate spatial analysis, aesthetic evaluation, and user data modeling to create intelligent, personalized spaces.</a:t>
            </a:r>
          </a:p>
        </p:txBody>
      </p:sp>
    </p:spTree>
    <p:extLst>
      <p:ext uri="{BB962C8B-B14F-4D97-AF65-F5344CB8AC3E}">
        <p14:creationId xmlns:p14="http://schemas.microsoft.com/office/powerpoint/2010/main" val="39014777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cap="small" dirty="0">
                <a:solidFill>
                  <a:schemeClr val="bg2">
                    <a:lumMod val="25000"/>
                  </a:schemeClr>
                </a:solidFill>
                <a:latin typeface="Times New Roman" pitchFamily="18" charset="0"/>
                <a:cs typeface="Times New Roman" pitchFamily="18" charset="0"/>
              </a:rPr>
              <a:t>Motivation:</a:t>
            </a:r>
            <a:br>
              <a:rPr lang="en-US" b="1" cap="small" dirty="0">
                <a:solidFill>
                  <a:schemeClr val="bg2">
                    <a:lumMod val="25000"/>
                  </a:schemeClr>
                </a:solidFill>
                <a:latin typeface="Times New Roman" pitchFamily="18" charset="0"/>
                <a:cs typeface="Times New Roman" pitchFamily="18" charset="0"/>
              </a:rPr>
            </a:br>
            <a:endParaRPr lang="en-IN" b="1" cap="small" dirty="0">
              <a:solidFill>
                <a:schemeClr val="bg2">
                  <a:lumMod val="25000"/>
                </a:schemeClr>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marL="228600" lvl="0" indent="-228600" algn="just">
              <a:spcBef>
                <a:spcPts val="0"/>
              </a:spcBef>
              <a:buSzPts val="3000"/>
            </a:pPr>
            <a:r>
              <a:rPr lang="en-US" dirty="0">
                <a:latin typeface="Times New Roman" panose="02020603050405020304" pitchFamily="18" charset="0"/>
                <a:cs typeface="Times New Roman" panose="02020603050405020304" pitchFamily="18" charset="0"/>
              </a:rPr>
              <a:t>Traditional design methods are time-consuming, subjective, and limited by individual designer expertise. There exists a gap between what designers visualize and what users actually prefer. </a:t>
            </a:r>
          </a:p>
          <a:p>
            <a:pPr marL="228600" lvl="0" indent="-228600" algn="just">
              <a:spcBef>
                <a:spcPts val="0"/>
              </a:spcBef>
              <a:buSzPts val="3000"/>
            </a:pPr>
            <a:r>
              <a:rPr lang="en-US" dirty="0">
                <a:latin typeface="Times New Roman" panose="02020603050405020304" pitchFamily="18" charset="0"/>
                <a:cs typeface="Times New Roman" panose="02020603050405020304" pitchFamily="18" charset="0"/>
              </a:rPr>
              <a:t>AI systems can automate layout generation while continuously learning user preferences. </a:t>
            </a:r>
          </a:p>
          <a:p>
            <a:pPr marL="228600" lvl="0" indent="-228600" algn="just">
              <a:spcBef>
                <a:spcPts val="0"/>
              </a:spcBef>
              <a:buSzPts val="3000"/>
            </a:pPr>
            <a:r>
              <a:rPr lang="en-US" dirty="0">
                <a:latin typeface="Times New Roman" panose="02020603050405020304" pitchFamily="18" charset="0"/>
                <a:cs typeface="Times New Roman" panose="02020603050405020304" pitchFamily="18" charset="0"/>
              </a:rPr>
              <a:t>This project aims to create intelligent, adaptive systems that enhance design accuracy, efficiency, and personalization.</a:t>
            </a:r>
          </a:p>
        </p:txBody>
      </p:sp>
    </p:spTree>
    <p:extLst>
      <p:ext uri="{BB962C8B-B14F-4D97-AF65-F5344CB8AC3E}">
        <p14:creationId xmlns:p14="http://schemas.microsoft.com/office/powerpoint/2010/main" val="24784271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cap="small" dirty="0">
                <a:solidFill>
                  <a:schemeClr val="bg2">
                    <a:lumMod val="25000"/>
                  </a:schemeClr>
                </a:solidFill>
                <a:latin typeface="Times New Roman" pitchFamily="18" charset="0"/>
                <a:cs typeface="Times New Roman" pitchFamily="18" charset="0"/>
              </a:rPr>
              <a:t>Problem Statement:</a:t>
            </a:r>
            <a:br>
              <a:rPr lang="en-US" b="1" cap="small" dirty="0">
                <a:solidFill>
                  <a:schemeClr val="bg2">
                    <a:lumMod val="25000"/>
                  </a:schemeClr>
                </a:solidFill>
                <a:latin typeface="Times New Roman" pitchFamily="18" charset="0"/>
                <a:cs typeface="Times New Roman" pitchFamily="18" charset="0"/>
              </a:rPr>
            </a:br>
            <a:endParaRPr lang="en-IN" b="1" cap="small" dirty="0">
              <a:solidFill>
                <a:schemeClr val="bg2">
                  <a:lumMod val="25000"/>
                </a:schemeClr>
              </a:solidFill>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marL="228600" lvl="0" indent="-228600" algn="just">
              <a:spcBef>
                <a:spcPts val="0"/>
              </a:spcBef>
              <a:buSzPts val="3000"/>
            </a:pPr>
            <a:r>
              <a:rPr lang="en-US" sz="2400" dirty="0">
                <a:latin typeface="Times New Roman" panose="02020603050405020304" pitchFamily="18" charset="0"/>
                <a:cs typeface="Times New Roman" panose="02020603050405020304" pitchFamily="18" charset="0"/>
              </a:rPr>
              <a:t>Current interior design methods are inefficient and inconsistent, relying heavily on manual input. Existing automated tools lack personalization and contextual intelligence.</a:t>
            </a:r>
          </a:p>
          <a:p>
            <a:pPr marL="228600" lvl="0" indent="-228600" algn="just">
              <a:spcBef>
                <a:spcPts val="0"/>
              </a:spcBef>
              <a:buSzPts val="3000"/>
            </a:pPr>
            <a:r>
              <a:rPr lang="en-US" sz="2400" dirty="0">
                <a:latin typeface="Times New Roman" panose="02020603050405020304" pitchFamily="18" charset="0"/>
                <a:cs typeface="Times New Roman" panose="02020603050405020304" pitchFamily="18" charset="0"/>
              </a:rPr>
              <a:t>There is a need for an AI-based system that mathematically models space design, optimizes for aesthetics and functionality, and adapts dynamically to user preferences.</a:t>
            </a:r>
          </a:p>
        </p:txBody>
      </p:sp>
    </p:spTree>
    <p:extLst>
      <p:ext uri="{BB962C8B-B14F-4D97-AF65-F5344CB8AC3E}">
        <p14:creationId xmlns:p14="http://schemas.microsoft.com/office/powerpoint/2010/main" val="4262948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cap="small" dirty="0">
                <a:solidFill>
                  <a:schemeClr val="bg2">
                    <a:lumMod val="25000"/>
                  </a:schemeClr>
                </a:solidFill>
                <a:latin typeface="Times New Roman" pitchFamily="18" charset="0"/>
                <a:cs typeface="Times New Roman" pitchFamily="18" charset="0"/>
              </a:rPr>
              <a:t>Objective:</a:t>
            </a:r>
            <a:br>
              <a:rPr lang="en-US" b="1" cap="small" dirty="0">
                <a:solidFill>
                  <a:schemeClr val="bg2">
                    <a:lumMod val="25000"/>
                  </a:schemeClr>
                </a:solidFill>
                <a:latin typeface="Times New Roman" pitchFamily="18" charset="0"/>
                <a:cs typeface="Times New Roman" pitchFamily="18" charset="0"/>
              </a:rPr>
            </a:br>
            <a:endParaRPr lang="en-IN" b="1" cap="small" dirty="0">
              <a:solidFill>
                <a:schemeClr val="bg2">
                  <a:lumMod val="25000"/>
                </a:schemeClr>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marL="0" indent="0" algn="just">
              <a:buNone/>
            </a:pPr>
            <a:r>
              <a:rPr lang="en-IN" dirty="0">
                <a:latin typeface="Times New Roman" panose="02020603050405020304" pitchFamily="18" charset="0"/>
                <a:cs typeface="Times New Roman" panose="02020603050405020304" pitchFamily="18" charset="0"/>
              </a:rPr>
              <a:t>1. Automate interior design using Markov Decision Process (MDP) </a:t>
            </a:r>
            <a:r>
              <a:rPr lang="en-IN" dirty="0" err="1">
                <a:latin typeface="Times New Roman" panose="02020603050405020304" pitchFamily="18" charset="0"/>
                <a:cs typeface="Times New Roman" panose="02020603050405020304" pitchFamily="18" charset="0"/>
              </a:rPr>
              <a:t>modeling</a:t>
            </a:r>
            <a:r>
              <a:rPr lang="en-IN" dirty="0">
                <a:latin typeface="Times New Roman" panose="02020603050405020304" pitchFamily="18" charset="0"/>
                <a:cs typeface="Times New Roman" panose="02020603050405020304" pitchFamily="18" charset="0"/>
              </a:rPr>
              <a:t>.</a:t>
            </a:r>
          </a:p>
          <a:p>
            <a:pPr marL="0" indent="0" algn="just">
              <a:buNone/>
            </a:pPr>
            <a:r>
              <a:rPr lang="en-IN" dirty="0">
                <a:latin typeface="Times New Roman" panose="02020603050405020304" pitchFamily="18" charset="0"/>
                <a:cs typeface="Times New Roman" panose="02020603050405020304" pitchFamily="18" charset="0"/>
              </a:rPr>
              <a:t>2. Convert real-world interiors into Building Information Models (BIM) using 3D reconstruction.</a:t>
            </a:r>
          </a:p>
          <a:p>
            <a:pPr marL="0" indent="0" algn="just">
              <a:buNone/>
            </a:pPr>
            <a:r>
              <a:rPr lang="en-IN" dirty="0">
                <a:latin typeface="Times New Roman" panose="02020603050405020304" pitchFamily="18" charset="0"/>
                <a:cs typeface="Times New Roman" panose="02020603050405020304" pitchFamily="18" charset="0"/>
              </a:rPr>
              <a:t>3. Develop a perception-decision-action AI cycle for design optimization.</a:t>
            </a:r>
          </a:p>
          <a:p>
            <a:pPr marL="0" indent="0" algn="just">
              <a:buNone/>
            </a:pPr>
            <a:r>
              <a:rPr lang="en-IN" dirty="0">
                <a:latin typeface="Times New Roman" panose="02020603050405020304" pitchFamily="18" charset="0"/>
                <a:cs typeface="Times New Roman" panose="02020603050405020304" pitchFamily="18" charset="0"/>
              </a:rPr>
              <a:t>4. Maximize client satisfaction using probabilistic reward-based decisions.</a:t>
            </a:r>
          </a:p>
          <a:p>
            <a:pPr marL="0" indent="0" algn="just">
              <a:buNone/>
            </a:pPr>
            <a:r>
              <a:rPr lang="en-IN" dirty="0">
                <a:latin typeface="Times New Roman" panose="02020603050405020304" pitchFamily="18" charset="0"/>
                <a:cs typeface="Times New Roman" panose="02020603050405020304" pitchFamily="18" charset="0"/>
              </a:rPr>
              <a:t>5. Validate workflow performance through experimentation and case studies.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82200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6138" y="119045"/>
            <a:ext cx="9905998" cy="1478570"/>
          </a:xfrm>
        </p:spPr>
        <p:txBody>
          <a:bodyPr>
            <a:normAutofit/>
          </a:bodyPr>
          <a:lstStyle/>
          <a:p>
            <a:r>
              <a:rPr lang="en-US" b="1" cap="small" dirty="0">
                <a:solidFill>
                  <a:schemeClr val="bg2">
                    <a:lumMod val="25000"/>
                  </a:schemeClr>
                </a:solidFill>
                <a:latin typeface="Times New Roman" pitchFamily="18" charset="0"/>
                <a:cs typeface="Times New Roman" pitchFamily="18" charset="0"/>
              </a:rPr>
              <a:t>Literature review:</a:t>
            </a:r>
            <a:br>
              <a:rPr lang="en-US" b="1" cap="small" dirty="0">
                <a:solidFill>
                  <a:schemeClr val="bg2">
                    <a:lumMod val="25000"/>
                  </a:schemeClr>
                </a:solidFill>
                <a:latin typeface="Times New Roman" pitchFamily="18" charset="0"/>
                <a:cs typeface="Times New Roman" pitchFamily="18" charset="0"/>
              </a:rPr>
            </a:br>
            <a:endParaRPr lang="en-IN" b="1" cap="small" dirty="0">
              <a:solidFill>
                <a:schemeClr val="bg2">
                  <a:lumMod val="25000"/>
                </a:schemeClr>
              </a:solidFill>
              <a:latin typeface="Times New Roman" pitchFamily="18" charset="0"/>
              <a:cs typeface="Times New Roman" pitchFamily="18" charset="0"/>
            </a:endParaRPr>
          </a:p>
        </p:txBody>
      </p:sp>
      <p:graphicFrame>
        <p:nvGraphicFramePr>
          <p:cNvPr id="3" name="Table 2">
            <a:extLst>
              <a:ext uri="{FF2B5EF4-FFF2-40B4-BE49-F238E27FC236}">
                <a16:creationId xmlns:a16="http://schemas.microsoft.com/office/drawing/2014/main" id="{89AA6042-85D7-89FE-8921-B8B015420C19}"/>
              </a:ext>
            </a:extLst>
          </p:cNvPr>
          <p:cNvGraphicFramePr>
            <a:graphicFrameLocks noGrp="1"/>
          </p:cNvGraphicFramePr>
          <p:nvPr>
            <p:extLst>
              <p:ext uri="{D42A27DB-BD31-4B8C-83A1-F6EECF244321}">
                <p14:modId xmlns:p14="http://schemas.microsoft.com/office/powerpoint/2010/main" val="3982315251"/>
              </p:ext>
            </p:extLst>
          </p:nvPr>
        </p:nvGraphicFramePr>
        <p:xfrm>
          <a:off x="1114146" y="891911"/>
          <a:ext cx="10479140" cy="5198646"/>
        </p:xfrm>
        <a:graphic>
          <a:graphicData uri="http://schemas.openxmlformats.org/drawingml/2006/table">
            <a:tbl>
              <a:tblPr firstRow="1" bandRow="1">
                <a:tableStyleId>{5940675A-B579-460E-94D1-54222C63F5DA}</a:tableStyleId>
              </a:tblPr>
              <a:tblGrid>
                <a:gridCol w="1092379">
                  <a:extLst>
                    <a:ext uri="{9D8B030D-6E8A-4147-A177-3AD203B41FA5}">
                      <a16:colId xmlns:a16="http://schemas.microsoft.com/office/drawing/2014/main" val="1103853299"/>
                    </a:ext>
                  </a:extLst>
                </a:gridCol>
                <a:gridCol w="1588726">
                  <a:extLst>
                    <a:ext uri="{9D8B030D-6E8A-4147-A177-3AD203B41FA5}">
                      <a16:colId xmlns:a16="http://schemas.microsoft.com/office/drawing/2014/main" val="1210288448"/>
                    </a:ext>
                  </a:extLst>
                </a:gridCol>
                <a:gridCol w="2157323">
                  <a:extLst>
                    <a:ext uri="{9D8B030D-6E8A-4147-A177-3AD203B41FA5}">
                      <a16:colId xmlns:a16="http://schemas.microsoft.com/office/drawing/2014/main" val="1826560719"/>
                    </a:ext>
                  </a:extLst>
                </a:gridCol>
                <a:gridCol w="2147666">
                  <a:extLst>
                    <a:ext uri="{9D8B030D-6E8A-4147-A177-3AD203B41FA5}">
                      <a16:colId xmlns:a16="http://schemas.microsoft.com/office/drawing/2014/main" val="3330477970"/>
                    </a:ext>
                  </a:extLst>
                </a:gridCol>
                <a:gridCol w="1746523">
                  <a:extLst>
                    <a:ext uri="{9D8B030D-6E8A-4147-A177-3AD203B41FA5}">
                      <a16:colId xmlns:a16="http://schemas.microsoft.com/office/drawing/2014/main" val="3810156600"/>
                    </a:ext>
                  </a:extLst>
                </a:gridCol>
                <a:gridCol w="1746523">
                  <a:extLst>
                    <a:ext uri="{9D8B030D-6E8A-4147-A177-3AD203B41FA5}">
                      <a16:colId xmlns:a16="http://schemas.microsoft.com/office/drawing/2014/main" val="947028850"/>
                    </a:ext>
                  </a:extLst>
                </a:gridCol>
              </a:tblGrid>
              <a:tr h="439341">
                <a:tc>
                  <a:txBody>
                    <a:bodyPr/>
                    <a:lstStyle/>
                    <a:p>
                      <a:pPr>
                        <a:lnSpc>
                          <a:spcPct val="115000"/>
                        </a:lnSpc>
                        <a:spcAft>
                          <a:spcPts val="1000"/>
                        </a:spcAft>
                        <a:buNone/>
                      </a:pPr>
                      <a:r>
                        <a:rPr lang="en-US" sz="1100" b="1" dirty="0">
                          <a:effectLst/>
                          <a:latin typeface="Cambria" panose="02040503050406030204" pitchFamily="18" charset="0"/>
                          <a:ea typeface="MS Mincho" panose="02020609040205080304" pitchFamily="49" charset="-128"/>
                          <a:cs typeface="Times New Roman" panose="02020603050405020304" pitchFamily="18" charset="0"/>
                        </a:rPr>
                        <a:t>Reference No</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b="1">
                          <a:effectLst/>
                          <a:latin typeface="Cambria" panose="02040503050406030204" pitchFamily="18" charset="0"/>
                          <a:ea typeface="MS Mincho" panose="02020609040205080304" pitchFamily="49" charset="-128"/>
                          <a:cs typeface="Times New Roman" panose="02020603050405020304" pitchFamily="18" charset="0"/>
                        </a:rPr>
                        <a:t>Dataset Used</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b="1">
                          <a:effectLst/>
                          <a:latin typeface="Cambria" panose="02040503050406030204" pitchFamily="18" charset="0"/>
                          <a:ea typeface="MS Mincho" panose="02020609040205080304" pitchFamily="49" charset="-128"/>
                          <a:cs typeface="Times New Roman" panose="02020603050405020304" pitchFamily="18" charset="0"/>
                        </a:rPr>
                        <a:t>Key Features/Key Findings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b="1">
                          <a:effectLst/>
                          <a:latin typeface="Cambria" panose="02040503050406030204" pitchFamily="18" charset="0"/>
                          <a:ea typeface="MS Mincho" panose="02020609040205080304" pitchFamily="49" charset="-128"/>
                          <a:cs typeface="Times New Roman" panose="02020603050405020304" pitchFamily="18" charset="0"/>
                        </a:rPr>
                        <a:t>Models/Algorithms Used</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b="1">
                          <a:effectLst/>
                          <a:latin typeface="Cambria" panose="02040503050406030204" pitchFamily="18" charset="0"/>
                          <a:ea typeface="MS Mincho" panose="02020609040205080304" pitchFamily="49" charset="-128"/>
                          <a:cs typeface="Times New Roman" panose="02020603050405020304" pitchFamily="18" charset="0"/>
                        </a:rPr>
                        <a:t>Evaluations Parameters Used</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b="1">
                          <a:effectLst/>
                          <a:latin typeface="Cambria" panose="02040503050406030204" pitchFamily="18" charset="0"/>
                          <a:ea typeface="MS Mincho" panose="02020609040205080304" pitchFamily="49" charset="-128"/>
                          <a:cs typeface="Times New Roman" panose="02020603050405020304" pitchFamily="18" charset="0"/>
                        </a:rPr>
                        <a:t>Research Gaps/Limitations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115109133"/>
                  </a:ext>
                </a:extLst>
              </a:tr>
              <a:tr h="1586435">
                <a:tc>
                  <a:txBody>
                    <a:bodyPr/>
                    <a:lstStyle/>
                    <a:p>
                      <a:pPr>
                        <a:lnSpc>
                          <a:spcPct val="115000"/>
                        </a:lnSpc>
                        <a:spcAft>
                          <a:spcPts val="1000"/>
                        </a:spcAft>
                        <a:buNone/>
                      </a:pPr>
                      <a:r>
                        <a:rPr lang="en-US" sz="1100">
                          <a:effectLst/>
                          <a:latin typeface="Cambria" panose="02040503050406030204" pitchFamily="18" charset="0"/>
                          <a:ea typeface="MS Mincho" panose="02020609040205080304" pitchFamily="49" charset="-128"/>
                          <a:cs typeface="Times New Roman" panose="02020603050405020304" pitchFamily="18" charset="0"/>
                        </a:rPr>
                        <a:t>[1]</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t>Real-world spatial video datasets (monocular camera-based); BIM integration</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t>MDP-based workflow for automatic layout decision-making in 3D; achieved high user satisfaction and reduced search effort</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t>Markov Decision Process (MDP), Patch-based Multi-View Stereo, BIM</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IN" sz="1100" dirty="0"/>
                        <a:t>Client satisfaction, design efficiency, computational time</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t>Tested only in controlled environments; lacks user-specific preferences and cultural design constraints</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884245637"/>
                  </a:ext>
                </a:extLst>
              </a:tr>
              <a:tr h="1586435">
                <a:tc>
                  <a:txBody>
                    <a:bodyPr/>
                    <a:lstStyle/>
                    <a:p>
                      <a:pPr>
                        <a:lnSpc>
                          <a:spcPct val="115000"/>
                        </a:lnSpc>
                        <a:spcAft>
                          <a:spcPts val="1000"/>
                        </a:spcAft>
                        <a:buNone/>
                      </a:pPr>
                      <a:r>
                        <a:rPr lang="en-US" sz="1100">
                          <a:effectLst/>
                          <a:latin typeface="Cambria" panose="02040503050406030204" pitchFamily="18" charset="0"/>
                          <a:ea typeface="MS Mincho" panose="02020609040205080304" pitchFamily="49" charset="-128"/>
                          <a:cs typeface="Times New Roman" panose="02020603050405020304" pitchFamily="18" charset="0"/>
                        </a:rPr>
                        <a:t>[2]</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t>Custom room-layout dataset; integrated with Google Shopping API</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t>Uses ControlNet and Stable Diffusion for layout generation, object removal/replacement, and real-time visualization</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fr-FR" sz="1100" dirty="0" err="1"/>
                        <a:t>ControlNet</a:t>
                      </a:r>
                      <a:r>
                        <a:rPr lang="fr-FR" sz="1100" dirty="0"/>
                        <a:t>, Stable Diffusion, </a:t>
                      </a:r>
                      <a:r>
                        <a:rPr lang="fr-FR" sz="1100" dirty="0" err="1"/>
                        <a:t>ResNet</a:t>
                      </a:r>
                      <a:r>
                        <a:rPr lang="fr-FR" sz="1100" dirty="0"/>
                        <a:t>, Hough </a:t>
                      </a:r>
                      <a:r>
                        <a:rPr lang="fr-FR" sz="1100" dirty="0" err="1"/>
                        <a:t>Transform</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t>Visual quality, object accuracy, user interaction speed</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t>No integration of cultural or traditional design rules (e.g., Vastu); dataset diversity limited</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694031075"/>
                  </a:ext>
                </a:extLst>
              </a:tr>
              <a:tr h="1586435">
                <a:tc>
                  <a:txBody>
                    <a:bodyPr/>
                    <a:lstStyle/>
                    <a:p>
                      <a:pPr>
                        <a:lnSpc>
                          <a:spcPct val="115000"/>
                        </a:lnSpc>
                        <a:spcAft>
                          <a:spcPts val="1000"/>
                        </a:spcAft>
                        <a:buNone/>
                      </a:pPr>
                      <a:r>
                        <a:rPr lang="en-US" sz="1100">
                          <a:effectLst/>
                          <a:latin typeface="Cambria" panose="02040503050406030204" pitchFamily="18" charset="0"/>
                          <a:ea typeface="MS Mincho" panose="02020609040205080304" pitchFamily="49" charset="-128"/>
                          <a:cs typeface="Times New Roman" panose="02020603050405020304" pitchFamily="18" charset="0"/>
                        </a:rPr>
                        <a:t>[3]</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t>Real-time sensor inputs (LiDAR, iScanner, 5D Planner) and workspace data</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t>Automated room identification and workflow optimization; reduced manual sketching and design time</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IN" sz="1100" dirty="0"/>
                        <a:t>LiDAR sensing, machine vision algorithms, </a:t>
                      </a:r>
                      <a:r>
                        <a:rPr lang="en-IN" sz="1100" dirty="0" err="1"/>
                        <a:t>PromeAI</a:t>
                      </a:r>
                      <a:r>
                        <a:rPr lang="en-IN" sz="1100" dirty="0"/>
                        <a:t> frameworks</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t>Time efficiency, accuracy, workflow speed</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t>Focused mainly on process automation; lacks deep learning for layout aesthetics</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093060351"/>
                  </a:ext>
                </a:extLst>
              </a:tr>
            </a:tbl>
          </a:graphicData>
        </a:graphic>
      </p:graphicFrame>
    </p:spTree>
    <p:extLst>
      <p:ext uri="{BB962C8B-B14F-4D97-AF65-F5344CB8AC3E}">
        <p14:creationId xmlns:p14="http://schemas.microsoft.com/office/powerpoint/2010/main" val="26067102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09C4C-04EC-CBD4-DFAC-49DD009A88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7B7F63-59EF-7843-2474-CC290D633D18}"/>
              </a:ext>
            </a:extLst>
          </p:cNvPr>
          <p:cNvSpPr>
            <a:spLocks noGrp="1"/>
          </p:cNvSpPr>
          <p:nvPr>
            <p:ph type="title"/>
          </p:nvPr>
        </p:nvSpPr>
        <p:spPr>
          <a:xfrm>
            <a:off x="846138" y="119045"/>
            <a:ext cx="9905998" cy="1478570"/>
          </a:xfrm>
        </p:spPr>
        <p:txBody>
          <a:bodyPr>
            <a:normAutofit/>
          </a:bodyPr>
          <a:lstStyle/>
          <a:p>
            <a:r>
              <a:rPr lang="en-US" b="1" cap="small" dirty="0">
                <a:solidFill>
                  <a:schemeClr val="bg2">
                    <a:lumMod val="25000"/>
                  </a:schemeClr>
                </a:solidFill>
                <a:latin typeface="Times New Roman" pitchFamily="18" charset="0"/>
                <a:cs typeface="Times New Roman" pitchFamily="18" charset="0"/>
              </a:rPr>
              <a:t>Literature review:</a:t>
            </a:r>
            <a:br>
              <a:rPr lang="en-US" b="1" cap="small" dirty="0">
                <a:solidFill>
                  <a:schemeClr val="bg2">
                    <a:lumMod val="25000"/>
                  </a:schemeClr>
                </a:solidFill>
                <a:latin typeface="Times New Roman" pitchFamily="18" charset="0"/>
                <a:cs typeface="Times New Roman" pitchFamily="18" charset="0"/>
              </a:rPr>
            </a:br>
            <a:endParaRPr lang="en-IN" b="1" cap="small" dirty="0">
              <a:solidFill>
                <a:schemeClr val="bg2">
                  <a:lumMod val="25000"/>
                </a:schemeClr>
              </a:solidFill>
              <a:latin typeface="Times New Roman" pitchFamily="18" charset="0"/>
              <a:cs typeface="Times New Roman" pitchFamily="18" charset="0"/>
            </a:endParaRPr>
          </a:p>
        </p:txBody>
      </p:sp>
      <p:graphicFrame>
        <p:nvGraphicFramePr>
          <p:cNvPr id="3" name="Table 2">
            <a:extLst>
              <a:ext uri="{FF2B5EF4-FFF2-40B4-BE49-F238E27FC236}">
                <a16:creationId xmlns:a16="http://schemas.microsoft.com/office/drawing/2014/main" id="{1FB9D3FF-5AED-EAE2-58B4-44FC781102A6}"/>
              </a:ext>
            </a:extLst>
          </p:cNvPr>
          <p:cNvGraphicFramePr>
            <a:graphicFrameLocks noGrp="1"/>
          </p:cNvGraphicFramePr>
          <p:nvPr>
            <p:extLst>
              <p:ext uri="{D42A27DB-BD31-4B8C-83A1-F6EECF244321}">
                <p14:modId xmlns:p14="http://schemas.microsoft.com/office/powerpoint/2010/main" val="2966142418"/>
              </p:ext>
            </p:extLst>
          </p:nvPr>
        </p:nvGraphicFramePr>
        <p:xfrm>
          <a:off x="1114146" y="891911"/>
          <a:ext cx="10409746" cy="5847043"/>
        </p:xfrm>
        <a:graphic>
          <a:graphicData uri="http://schemas.openxmlformats.org/drawingml/2006/table">
            <a:tbl>
              <a:tblPr firstRow="1" bandRow="1">
                <a:tableStyleId>{5940675A-B579-460E-94D1-54222C63F5DA}</a:tableStyleId>
              </a:tblPr>
              <a:tblGrid>
                <a:gridCol w="469725">
                  <a:extLst>
                    <a:ext uri="{9D8B030D-6E8A-4147-A177-3AD203B41FA5}">
                      <a16:colId xmlns:a16="http://schemas.microsoft.com/office/drawing/2014/main" val="1103853299"/>
                    </a:ext>
                  </a:extLst>
                </a:gridCol>
                <a:gridCol w="1698172">
                  <a:extLst>
                    <a:ext uri="{9D8B030D-6E8A-4147-A177-3AD203B41FA5}">
                      <a16:colId xmlns:a16="http://schemas.microsoft.com/office/drawing/2014/main" val="1210288448"/>
                    </a:ext>
                  </a:extLst>
                </a:gridCol>
                <a:gridCol w="2073728">
                  <a:extLst>
                    <a:ext uri="{9D8B030D-6E8A-4147-A177-3AD203B41FA5}">
                      <a16:colId xmlns:a16="http://schemas.microsoft.com/office/drawing/2014/main" val="1826560719"/>
                    </a:ext>
                  </a:extLst>
                </a:gridCol>
                <a:gridCol w="2057400">
                  <a:extLst>
                    <a:ext uri="{9D8B030D-6E8A-4147-A177-3AD203B41FA5}">
                      <a16:colId xmlns:a16="http://schemas.microsoft.com/office/drawing/2014/main" val="3330477970"/>
                    </a:ext>
                  </a:extLst>
                </a:gridCol>
                <a:gridCol w="2364198">
                  <a:extLst>
                    <a:ext uri="{9D8B030D-6E8A-4147-A177-3AD203B41FA5}">
                      <a16:colId xmlns:a16="http://schemas.microsoft.com/office/drawing/2014/main" val="3810156600"/>
                    </a:ext>
                  </a:extLst>
                </a:gridCol>
                <a:gridCol w="1746523">
                  <a:extLst>
                    <a:ext uri="{9D8B030D-6E8A-4147-A177-3AD203B41FA5}">
                      <a16:colId xmlns:a16="http://schemas.microsoft.com/office/drawing/2014/main" val="947028850"/>
                    </a:ext>
                  </a:extLst>
                </a:gridCol>
              </a:tblGrid>
              <a:tr h="1279426">
                <a:tc>
                  <a:txBody>
                    <a:bodyPr/>
                    <a:lstStyle/>
                    <a:p>
                      <a:pPr>
                        <a:lnSpc>
                          <a:spcPct val="115000"/>
                        </a:lnSpc>
                        <a:spcAft>
                          <a:spcPts val="1000"/>
                        </a:spcAft>
                        <a:buNone/>
                      </a:pPr>
                      <a:r>
                        <a:rPr lang="en-US" sz="1100">
                          <a:effectLst/>
                          <a:latin typeface="Cambria" panose="02040503050406030204" pitchFamily="18" charset="0"/>
                          <a:ea typeface="MS Mincho" panose="02020609040205080304" pitchFamily="49" charset="-128"/>
                          <a:cs typeface="Times New Roman" panose="02020603050405020304" pitchFamily="18" charset="0"/>
                        </a:rPr>
                        <a:t>[4]</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IN" sz="1100" dirty="0"/>
                        <a:t>SCOPUS &amp; EMERALD literature datasets (30 papers) </a:t>
                      </a:r>
                      <a:r>
                        <a:rPr lang="en-IN" sz="1100" dirty="0" err="1"/>
                        <a:t>analyzed</a:t>
                      </a:r>
                      <a:r>
                        <a:rPr lang="en-IN" sz="1100" dirty="0"/>
                        <a:t> using </a:t>
                      </a:r>
                      <a:r>
                        <a:rPr lang="en-IN" sz="1100" dirty="0" err="1"/>
                        <a:t>ATLAS.ti</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t>Identified trends in AI-driven design — aesthetics, materials, eco-quality, and intelligent systems</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IN" sz="1100" dirty="0" err="1"/>
                        <a:t>ATLAS.ti</a:t>
                      </a:r>
                      <a:r>
                        <a:rPr lang="en-IN" sz="1100" dirty="0"/>
                        <a:t> (Thematic Analysis)</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t>Trend mapping, qualitative coding, theme frequency</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IN" sz="1100" dirty="0"/>
                        <a:t>Lacks experimental results or quantitative validation</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115109133"/>
                  </a:ext>
                </a:extLst>
              </a:tr>
              <a:tr h="1522539">
                <a:tc>
                  <a:txBody>
                    <a:bodyPr/>
                    <a:lstStyle/>
                    <a:p>
                      <a:pPr>
                        <a:lnSpc>
                          <a:spcPct val="115000"/>
                        </a:lnSpc>
                        <a:spcAft>
                          <a:spcPts val="1000"/>
                        </a:spcAft>
                        <a:buNone/>
                      </a:pPr>
                      <a:r>
                        <a:rPr lang="en-US" sz="1100">
                          <a:effectLst/>
                          <a:latin typeface="Cambria" panose="02040503050406030204" pitchFamily="18" charset="0"/>
                          <a:ea typeface="MS Mincho" panose="02020609040205080304" pitchFamily="49" charset="-128"/>
                          <a:cs typeface="Times New Roman" panose="02020603050405020304" pitchFamily="18" charset="0"/>
                        </a:rPr>
                        <a:t>[5]</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t>Synthetic and real-world datasets; deep learning framework experiments</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t>Unified CNN-GNN-Transformer model for layout generation and spatial reasoning</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t>CNN, GNN, Transformer, Evolutionary Optimization</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IN" sz="1100" dirty="0"/>
                        <a:t>Aesthetic score, spatial efficiency, user satisfaction</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t>High computational complexity; lacks cultural adaptability and real-time AR/VR integration</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884245637"/>
                  </a:ext>
                </a:extLst>
              </a:tr>
              <a:tr h="1522539">
                <a:tc>
                  <a:txBody>
                    <a:bodyPr/>
                    <a:lstStyle/>
                    <a:p>
                      <a:pPr>
                        <a:lnSpc>
                          <a:spcPct val="115000"/>
                        </a:lnSpc>
                        <a:spcAft>
                          <a:spcPts val="1000"/>
                        </a:spcAft>
                        <a:buNone/>
                      </a:pPr>
                      <a:r>
                        <a:rPr lang="en-US" sz="1100">
                          <a:effectLst/>
                          <a:latin typeface="Cambria" panose="02040503050406030204" pitchFamily="18" charset="0"/>
                          <a:ea typeface="MS Mincho" panose="02020609040205080304" pitchFamily="49" charset="-128"/>
                          <a:cs typeface="Times New Roman" panose="02020603050405020304" pitchFamily="18" charset="0"/>
                        </a:rPr>
                        <a:t>[6]</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t>User survey data and AR-based prototype testing</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t>Combined ML and AR for personalization; achieved 29% improvement in spatial optimization and 37% in aesthetics</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t>Recommender Systems, Clustering Algorithms, Augmented Reality (AR)</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IN" sz="1100" dirty="0"/>
                        <a:t>PLS-SEM, user satisfaction, space efficiency</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IN" sz="1100" dirty="0"/>
                        <a:t>Small dataset; no inclusion of cultural/spiritual design logic (Vastu)</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694031075"/>
                  </a:ext>
                </a:extLst>
              </a:tr>
              <a:tr h="1522539">
                <a:tc>
                  <a:txBody>
                    <a:bodyPr/>
                    <a:lstStyle/>
                    <a:p>
                      <a:pPr>
                        <a:lnSpc>
                          <a:spcPct val="115000"/>
                        </a:lnSpc>
                        <a:spcAft>
                          <a:spcPts val="1000"/>
                        </a:spcAft>
                        <a:buNone/>
                      </a:pPr>
                      <a:r>
                        <a:rPr lang="en-US" sz="1100">
                          <a:effectLst/>
                          <a:latin typeface="Cambria" panose="02040503050406030204" pitchFamily="18" charset="0"/>
                          <a:ea typeface="MS Mincho" panose="02020609040205080304" pitchFamily="49" charset="-128"/>
                          <a:cs typeface="Times New Roman" panose="02020603050405020304" pitchFamily="18" charset="0"/>
                        </a:rPr>
                        <a:t>[7]</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t>Mixed-method study using survey (300 users) and interviews with design professionals</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t>Cross-disciplinary analysis of AI in smart home interiors; found 22% reduction in energy consumption; improved personalization</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t>AI-integrated IoT systems, Machine Learning (Predictive algorithms), GANs for style learning</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IN" sz="1100" dirty="0"/>
                        <a:t>Energy efficiency, user satisfaction, design coherence</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t>Limited emotional and aesthetic adaptability; privacy and data security concerns</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093060351"/>
                  </a:ext>
                </a:extLst>
              </a:tr>
            </a:tbl>
          </a:graphicData>
        </a:graphic>
      </p:graphicFrame>
    </p:spTree>
    <p:extLst>
      <p:ext uri="{BB962C8B-B14F-4D97-AF65-F5344CB8AC3E}">
        <p14:creationId xmlns:p14="http://schemas.microsoft.com/office/powerpoint/2010/main" val="29897128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2E8CA-7AE1-B921-BBCD-7A190217C8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57B479-527B-0E21-3AD8-723ACB2FD208}"/>
              </a:ext>
            </a:extLst>
          </p:cNvPr>
          <p:cNvSpPr>
            <a:spLocks noGrp="1"/>
          </p:cNvSpPr>
          <p:nvPr>
            <p:ph type="title"/>
          </p:nvPr>
        </p:nvSpPr>
        <p:spPr>
          <a:xfrm>
            <a:off x="846138" y="119045"/>
            <a:ext cx="9905998" cy="1478570"/>
          </a:xfrm>
        </p:spPr>
        <p:txBody>
          <a:bodyPr>
            <a:normAutofit/>
          </a:bodyPr>
          <a:lstStyle/>
          <a:p>
            <a:r>
              <a:rPr lang="en-US" b="1" cap="small" dirty="0">
                <a:solidFill>
                  <a:schemeClr val="bg2">
                    <a:lumMod val="25000"/>
                  </a:schemeClr>
                </a:solidFill>
                <a:latin typeface="Times New Roman" pitchFamily="18" charset="0"/>
                <a:cs typeface="Times New Roman" pitchFamily="18" charset="0"/>
              </a:rPr>
              <a:t>Literature review:</a:t>
            </a:r>
            <a:br>
              <a:rPr lang="en-US" b="1" cap="small" dirty="0">
                <a:solidFill>
                  <a:schemeClr val="bg2">
                    <a:lumMod val="25000"/>
                  </a:schemeClr>
                </a:solidFill>
                <a:latin typeface="Times New Roman" pitchFamily="18" charset="0"/>
                <a:cs typeface="Times New Roman" pitchFamily="18" charset="0"/>
              </a:rPr>
            </a:br>
            <a:endParaRPr lang="en-IN" b="1" cap="small" dirty="0">
              <a:solidFill>
                <a:schemeClr val="bg2">
                  <a:lumMod val="25000"/>
                </a:schemeClr>
              </a:solidFill>
              <a:latin typeface="Times New Roman" pitchFamily="18" charset="0"/>
              <a:cs typeface="Times New Roman" pitchFamily="18" charset="0"/>
            </a:endParaRPr>
          </a:p>
        </p:txBody>
      </p:sp>
      <p:graphicFrame>
        <p:nvGraphicFramePr>
          <p:cNvPr id="3" name="Table 2">
            <a:extLst>
              <a:ext uri="{FF2B5EF4-FFF2-40B4-BE49-F238E27FC236}">
                <a16:creationId xmlns:a16="http://schemas.microsoft.com/office/drawing/2014/main" id="{128187E0-C887-DE82-931A-F3D64562F6A0}"/>
              </a:ext>
            </a:extLst>
          </p:cNvPr>
          <p:cNvGraphicFramePr>
            <a:graphicFrameLocks noGrp="1"/>
          </p:cNvGraphicFramePr>
          <p:nvPr>
            <p:extLst>
              <p:ext uri="{D42A27DB-BD31-4B8C-83A1-F6EECF244321}">
                <p14:modId xmlns:p14="http://schemas.microsoft.com/office/powerpoint/2010/main" val="1587158845"/>
              </p:ext>
            </p:extLst>
          </p:nvPr>
        </p:nvGraphicFramePr>
        <p:xfrm>
          <a:off x="1062306" y="1143508"/>
          <a:ext cx="10481994" cy="4717017"/>
        </p:xfrm>
        <a:graphic>
          <a:graphicData uri="http://schemas.openxmlformats.org/drawingml/2006/table">
            <a:tbl>
              <a:tblPr firstRow="1" bandRow="1">
                <a:tableStyleId>{5940675A-B579-460E-94D1-54222C63F5DA}</a:tableStyleId>
              </a:tblPr>
              <a:tblGrid>
                <a:gridCol w="350164">
                  <a:extLst>
                    <a:ext uri="{9D8B030D-6E8A-4147-A177-3AD203B41FA5}">
                      <a16:colId xmlns:a16="http://schemas.microsoft.com/office/drawing/2014/main" val="1103853299"/>
                    </a:ext>
                  </a:extLst>
                </a:gridCol>
                <a:gridCol w="1730941">
                  <a:extLst>
                    <a:ext uri="{9D8B030D-6E8A-4147-A177-3AD203B41FA5}">
                      <a16:colId xmlns:a16="http://schemas.microsoft.com/office/drawing/2014/main" val="1210288448"/>
                    </a:ext>
                  </a:extLst>
                </a:gridCol>
                <a:gridCol w="2113744">
                  <a:extLst>
                    <a:ext uri="{9D8B030D-6E8A-4147-A177-3AD203B41FA5}">
                      <a16:colId xmlns:a16="http://schemas.microsoft.com/office/drawing/2014/main" val="1826560719"/>
                    </a:ext>
                  </a:extLst>
                </a:gridCol>
                <a:gridCol w="2097101">
                  <a:extLst>
                    <a:ext uri="{9D8B030D-6E8A-4147-A177-3AD203B41FA5}">
                      <a16:colId xmlns:a16="http://schemas.microsoft.com/office/drawing/2014/main" val="3330477970"/>
                    </a:ext>
                  </a:extLst>
                </a:gridCol>
                <a:gridCol w="2409819">
                  <a:extLst>
                    <a:ext uri="{9D8B030D-6E8A-4147-A177-3AD203B41FA5}">
                      <a16:colId xmlns:a16="http://schemas.microsoft.com/office/drawing/2014/main" val="3810156600"/>
                    </a:ext>
                  </a:extLst>
                </a:gridCol>
                <a:gridCol w="1780225">
                  <a:extLst>
                    <a:ext uri="{9D8B030D-6E8A-4147-A177-3AD203B41FA5}">
                      <a16:colId xmlns:a16="http://schemas.microsoft.com/office/drawing/2014/main" val="947028850"/>
                    </a:ext>
                  </a:extLst>
                </a:gridCol>
              </a:tblGrid>
              <a:tr h="1469063">
                <a:tc>
                  <a:txBody>
                    <a:bodyPr/>
                    <a:lstStyle/>
                    <a:p>
                      <a:pPr>
                        <a:lnSpc>
                          <a:spcPct val="115000"/>
                        </a:lnSpc>
                        <a:spcAft>
                          <a:spcPts val="1000"/>
                        </a:spcAft>
                        <a:buNone/>
                      </a:pPr>
                      <a:r>
                        <a:rPr lang="en-US" sz="1100" dirty="0">
                          <a:effectLst/>
                          <a:latin typeface="Cambria" panose="02040503050406030204" pitchFamily="18" charset="0"/>
                          <a:ea typeface="MS Mincho" panose="02020609040205080304" pitchFamily="49" charset="-128"/>
                          <a:cs typeface="Times New Roman" panose="02020603050405020304" pitchFamily="18" charset="0"/>
                        </a:rPr>
                        <a:t>[8]</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t>Construction and interior design datasets analyzed using preprocessing, interpolation, and normalization</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t>Focused on compact living; AI and VR improve spatial efficiency and sustainability; achieved 85% efficiency and 40% cost savings</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IN" sz="1100" dirty="0"/>
                        <a:t>AI-driven optimization algorithms, VR/5G, Space Efficiency Ratio (SER), Digital Optimization Score (DOS)</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t>Space utilization index, cost reduction, user satisfaction</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t>High initial cost, user adaptation issues, limited dataset diversity</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115109133"/>
                  </a:ext>
                </a:extLst>
              </a:tr>
              <a:tr h="1534886">
                <a:tc>
                  <a:txBody>
                    <a:bodyPr/>
                    <a:lstStyle/>
                    <a:p>
                      <a:pPr>
                        <a:lnSpc>
                          <a:spcPct val="115000"/>
                        </a:lnSpc>
                        <a:spcAft>
                          <a:spcPts val="1000"/>
                        </a:spcAft>
                        <a:buNone/>
                      </a:pPr>
                      <a:r>
                        <a:rPr lang="en-US" sz="1100">
                          <a:effectLst/>
                          <a:latin typeface="Cambria" panose="02040503050406030204" pitchFamily="18" charset="0"/>
                          <a:ea typeface="MS Mincho" panose="02020609040205080304" pitchFamily="49" charset="-128"/>
                          <a:cs typeface="Times New Roman" panose="02020603050405020304" pitchFamily="18" charset="0"/>
                        </a:rPr>
                        <a:t>[9]</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t>Case studies of AI-integrated residential designs</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t>Used deep learning models for layout automation and adaptive lighting; improved functional aesthetics</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IN" sz="1100" dirty="0"/>
                        <a:t>Deep Neural Networks (DNN), Recurrent Neural Networks (RNN), IoT data fusion</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t>Design efficiency, adaptability, lighting accuracy</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t>Limited validation on real homes; lacks cultural and aesthetic evaluation</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884245637"/>
                  </a:ext>
                </a:extLst>
              </a:tr>
              <a:tr h="1713068">
                <a:tc>
                  <a:txBody>
                    <a:bodyPr/>
                    <a:lstStyle/>
                    <a:p>
                      <a:pPr>
                        <a:lnSpc>
                          <a:spcPct val="115000"/>
                        </a:lnSpc>
                        <a:spcAft>
                          <a:spcPts val="1000"/>
                        </a:spcAft>
                        <a:buNone/>
                      </a:pPr>
                      <a:r>
                        <a:rPr lang="en-US" sz="1100">
                          <a:effectLst/>
                          <a:latin typeface="Cambria" panose="02040503050406030204" pitchFamily="18" charset="0"/>
                          <a:ea typeface="MS Mincho" panose="02020609040205080304" pitchFamily="49" charset="-128"/>
                          <a:cs typeface="Times New Roman" panose="02020603050405020304" pitchFamily="18" charset="0"/>
                        </a:rPr>
                        <a:t>[10]</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t>Empirical data from adaptive home prototypes and simulations</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t>Demonstrated adaptive design based on occupant behavior; improved personalization and energy saving</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t>Adaptive Control Systems, Reinforcement Learning, IoT Sensors</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t>Space efficiency, personalization rate, energy usage</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dirty="0"/>
                        <a:t>Focused mainly on technical adaptation; lacks large-scale human trials</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694031075"/>
                  </a:ext>
                </a:extLst>
              </a:tr>
            </a:tbl>
          </a:graphicData>
        </a:graphic>
      </p:graphicFrame>
    </p:spTree>
    <p:extLst>
      <p:ext uri="{BB962C8B-B14F-4D97-AF65-F5344CB8AC3E}">
        <p14:creationId xmlns:p14="http://schemas.microsoft.com/office/powerpoint/2010/main" val="5919624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cap="small" dirty="0">
                <a:solidFill>
                  <a:schemeClr val="bg2">
                    <a:lumMod val="25000"/>
                  </a:schemeClr>
                </a:solidFill>
                <a:latin typeface="Times New Roman" pitchFamily="18" charset="0"/>
                <a:cs typeface="Times New Roman" pitchFamily="18" charset="0"/>
              </a:rPr>
              <a:t>Technologies Used:</a:t>
            </a:r>
            <a:br>
              <a:rPr lang="en-US" b="1" cap="small" dirty="0">
                <a:solidFill>
                  <a:schemeClr val="bg2">
                    <a:lumMod val="25000"/>
                  </a:schemeClr>
                </a:solidFill>
                <a:latin typeface="Times New Roman" pitchFamily="18" charset="0"/>
                <a:cs typeface="Times New Roman" pitchFamily="18" charset="0"/>
              </a:rPr>
            </a:br>
            <a:endParaRPr lang="en-IN" b="1" cap="small" dirty="0">
              <a:solidFill>
                <a:schemeClr val="bg2">
                  <a:lumMod val="25000"/>
                </a:schemeClr>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Artificial Intelligence (AI)</a:t>
            </a:r>
          </a:p>
          <a:p>
            <a:r>
              <a:rPr lang="en-US" dirty="0">
                <a:latin typeface="Times New Roman" panose="02020603050405020304" pitchFamily="18" charset="0"/>
                <a:cs typeface="Times New Roman" panose="02020603050405020304" pitchFamily="18" charset="0"/>
              </a:rPr>
              <a:t>Markov Decision Process (MDP)</a:t>
            </a:r>
          </a:p>
          <a:p>
            <a:r>
              <a:rPr lang="en-US" dirty="0">
                <a:latin typeface="Times New Roman" panose="02020603050405020304" pitchFamily="18" charset="0"/>
                <a:cs typeface="Times New Roman" panose="02020603050405020304" pitchFamily="18" charset="0"/>
              </a:rPr>
              <a:t>Building Information Modeling (BIM)</a:t>
            </a:r>
          </a:p>
          <a:p>
            <a:r>
              <a:rPr lang="en-US" dirty="0">
                <a:latin typeface="Times New Roman" panose="02020603050405020304" pitchFamily="18" charset="0"/>
                <a:cs typeface="Times New Roman" panose="02020603050405020304" pitchFamily="18" charset="0"/>
              </a:rPr>
              <a:t>3D Reconstruction (Point Cloud Data)• Python, OpenCV, Revit, AutoCAD</a:t>
            </a:r>
          </a:p>
          <a:p>
            <a:r>
              <a:rPr lang="en-US" dirty="0" err="1">
                <a:latin typeface="Times New Roman" panose="02020603050405020304" pitchFamily="18" charset="0"/>
                <a:cs typeface="Times New Roman" panose="02020603050405020304" pitchFamily="18" charset="0"/>
              </a:rPr>
              <a:t>Videogrammetry</a:t>
            </a:r>
            <a:r>
              <a:rPr lang="en-US" dirty="0">
                <a:latin typeface="Times New Roman" panose="02020603050405020304" pitchFamily="18" charset="0"/>
                <a:cs typeface="Times New Roman" panose="02020603050405020304" pitchFamily="18" charset="0"/>
              </a:rPr>
              <a:t> for environment perception</a:t>
            </a:r>
          </a:p>
          <a:p>
            <a:r>
              <a:rPr lang="en-US" dirty="0">
                <a:latin typeface="Times New Roman" panose="02020603050405020304" pitchFamily="18" charset="0"/>
                <a:cs typeface="Times New Roman" panose="02020603050405020304" pitchFamily="18" charset="0"/>
              </a:rPr>
              <a:t>Statistical analysis tools for reward computation </a:t>
            </a:r>
          </a:p>
          <a:p>
            <a:r>
              <a:rPr lang="en-US" dirty="0">
                <a:latin typeface="Times New Roman" panose="02020603050405020304" pitchFamily="18" charset="0"/>
                <a:cs typeface="Times New Roman" panose="02020603050405020304" pitchFamily="18" charset="0"/>
              </a:rPr>
              <a:t>Value iteration algorithm for optimal policy generation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5604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4699" y="-116268"/>
            <a:ext cx="9905998" cy="1478570"/>
          </a:xfrm>
        </p:spPr>
        <p:txBody>
          <a:bodyPr>
            <a:normAutofit/>
          </a:bodyPr>
          <a:lstStyle/>
          <a:p>
            <a:r>
              <a:rPr lang="en-US" b="1" cap="small" dirty="0">
                <a:solidFill>
                  <a:schemeClr val="bg2">
                    <a:lumMod val="25000"/>
                  </a:schemeClr>
                </a:solidFill>
                <a:latin typeface="Times New Roman" pitchFamily="18" charset="0"/>
                <a:cs typeface="Times New Roman" pitchFamily="18" charset="0"/>
              </a:rPr>
              <a:t>System architecture:</a:t>
            </a:r>
            <a:endParaRPr lang="en-IN" b="1" cap="small" dirty="0">
              <a:solidFill>
                <a:schemeClr val="bg2">
                  <a:lumMod val="25000"/>
                </a:schemeClr>
              </a:solidFill>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9F25E6E9-0BFB-24A0-9F3D-704216914F41}"/>
              </a:ext>
            </a:extLst>
          </p:cNvPr>
          <p:cNvPicPr/>
          <p:nvPr/>
        </p:nvPicPr>
        <p:blipFill>
          <a:blip r:embed="rId2">
            <a:extLst>
              <a:ext uri="{28A0092B-C50C-407E-A947-70E740481C1C}">
                <a14:useLocalDpi xmlns:a14="http://schemas.microsoft.com/office/drawing/2010/main" val="0"/>
              </a:ext>
            </a:extLst>
          </a:blip>
          <a:srcRect/>
          <a:stretch/>
        </p:blipFill>
        <p:spPr>
          <a:xfrm>
            <a:off x="3620062" y="1362301"/>
            <a:ext cx="4951875" cy="5185455"/>
          </a:xfrm>
          <a:prstGeom prst="rect">
            <a:avLst/>
          </a:prstGeom>
        </p:spPr>
      </p:pic>
    </p:spTree>
    <p:extLst>
      <p:ext uri="{BB962C8B-B14F-4D97-AF65-F5344CB8AC3E}">
        <p14:creationId xmlns:p14="http://schemas.microsoft.com/office/powerpoint/2010/main" val="27335310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8989" y="-274431"/>
            <a:ext cx="9905998" cy="1478570"/>
          </a:xfrm>
        </p:spPr>
        <p:txBody>
          <a:bodyPr>
            <a:normAutofit/>
          </a:bodyPr>
          <a:lstStyle/>
          <a:p>
            <a:r>
              <a:rPr lang="en-US" b="1" cap="small" dirty="0">
                <a:solidFill>
                  <a:schemeClr val="bg2">
                    <a:lumMod val="25000"/>
                  </a:schemeClr>
                </a:solidFill>
                <a:latin typeface="Times New Roman" pitchFamily="18" charset="0"/>
                <a:cs typeface="Times New Roman" pitchFamily="18" charset="0"/>
              </a:rPr>
              <a:t>UML Diagram</a:t>
            </a:r>
            <a:endParaRPr lang="en-IN" b="1" cap="small" dirty="0">
              <a:solidFill>
                <a:schemeClr val="bg2">
                  <a:lumMod val="25000"/>
                </a:schemeClr>
              </a:solidFill>
              <a:latin typeface="Times New Roman" pitchFamily="18" charset="0"/>
              <a:cs typeface="Times New Roman" pitchFamily="18" charset="0"/>
            </a:endParaRPr>
          </a:p>
        </p:txBody>
      </p:sp>
      <p:pic>
        <p:nvPicPr>
          <p:cNvPr id="13" name="Picture 12">
            <a:extLst>
              <a:ext uri="{FF2B5EF4-FFF2-40B4-BE49-F238E27FC236}">
                <a16:creationId xmlns:a16="http://schemas.microsoft.com/office/drawing/2014/main" id="{665A73C7-00BD-BA6E-F5C8-FF6795C708B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880360" y="1120962"/>
            <a:ext cx="6690360" cy="5008841"/>
          </a:xfrm>
          <a:prstGeom prst="rect">
            <a:avLst/>
          </a:prstGeom>
        </p:spPr>
      </p:pic>
    </p:spTree>
    <p:extLst>
      <p:ext uri="{BB962C8B-B14F-4D97-AF65-F5344CB8AC3E}">
        <p14:creationId xmlns:p14="http://schemas.microsoft.com/office/powerpoint/2010/main" val="32545400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cap="small" dirty="0">
                <a:solidFill>
                  <a:schemeClr val="bg2">
                    <a:lumMod val="25000"/>
                  </a:schemeClr>
                </a:solidFill>
                <a:latin typeface="Times New Roman" pitchFamily="18" charset="0"/>
                <a:cs typeface="Times New Roman" pitchFamily="18" charset="0"/>
              </a:rPr>
              <a:t>Results and Discussion</a:t>
            </a:r>
            <a:br>
              <a:rPr lang="en-US" dirty="0">
                <a:latin typeface="Times New Roman" pitchFamily="18" charset="0"/>
                <a:cs typeface="Times New Roman" pitchFamily="18" charset="0"/>
              </a:rPr>
            </a:br>
            <a:br>
              <a:rPr lang="en-US" dirty="0">
                <a:latin typeface="Times New Roman" pitchFamily="18" charset="0"/>
                <a:cs typeface="Times New Roman" pitchFamily="18" charset="0"/>
              </a:rPr>
            </a:br>
            <a:endParaRPr lang="en-IN" b="1" cap="small" dirty="0">
              <a:solidFill>
                <a:schemeClr val="bg2">
                  <a:lumMod val="25000"/>
                </a:schemeClr>
              </a:solidFill>
              <a:latin typeface="Times New Roman" pitchFamily="18" charset="0"/>
              <a:cs typeface="Times New Roman" pitchFamily="18" charset="0"/>
            </a:endParaRPr>
          </a:p>
        </p:txBody>
      </p:sp>
      <p:sp>
        <p:nvSpPr>
          <p:cNvPr id="3" name="Content Placeholder 2"/>
          <p:cNvSpPr>
            <a:spLocks noGrp="1"/>
          </p:cNvSpPr>
          <p:nvPr>
            <p:ph idx="1"/>
          </p:nvPr>
        </p:nvSpPr>
        <p:spPr>
          <a:xfrm>
            <a:off x="1272040" y="1504759"/>
            <a:ext cx="9905999" cy="3879003"/>
          </a:xfrm>
        </p:spPr>
        <p:txBody>
          <a:bodyPr>
            <a:noAutofit/>
          </a:bodyPr>
          <a:lstStyle/>
          <a:p>
            <a:pPr marL="0" indent="0">
              <a:buNone/>
            </a:pPr>
            <a:r>
              <a:rPr lang="en-US" sz="2200" dirty="0">
                <a:latin typeface="Times New Roman" panose="02020603050405020304" pitchFamily="18" charset="0"/>
                <a:cs typeface="Times New Roman" panose="02020603050405020304" pitchFamily="18" charset="0"/>
              </a:rPr>
              <a:t>• The MDP-based workflow improved user satisfaction by 5.1% while exploring only 5% of design possibilities.</a:t>
            </a:r>
          </a:p>
          <a:p>
            <a:pPr marL="0" indent="0">
              <a:buNone/>
            </a:pPr>
            <a:r>
              <a:rPr lang="en-US" sz="2200" dirty="0">
                <a:latin typeface="Times New Roman" panose="02020603050405020304" pitchFamily="18" charset="0"/>
                <a:cs typeface="Times New Roman" panose="02020603050405020304" pitchFamily="18" charset="0"/>
              </a:rPr>
              <a:t>• Demonstrated significant reduction in design time and computational effort.</a:t>
            </a:r>
          </a:p>
          <a:p>
            <a:pPr marL="0" indent="0">
              <a:buNone/>
            </a:pPr>
            <a:r>
              <a:rPr lang="en-US" sz="2200" dirty="0">
                <a:latin typeface="Times New Roman" panose="02020603050405020304" pitchFamily="18" charset="0"/>
                <a:cs typeface="Times New Roman" panose="02020603050405020304" pitchFamily="18" charset="0"/>
              </a:rPr>
              <a:t>• Outperformed random and rule-based design approaches.</a:t>
            </a:r>
          </a:p>
          <a:p>
            <a:pPr marL="0" indent="0">
              <a:buNone/>
            </a:pPr>
            <a:r>
              <a:rPr lang="en-US" sz="2200" dirty="0">
                <a:latin typeface="Times New Roman" panose="02020603050405020304" pitchFamily="18" charset="0"/>
                <a:cs typeface="Times New Roman" panose="02020603050405020304" pitchFamily="18" charset="0"/>
              </a:rPr>
              <a:t>• Effective perception-decision-action cycle validated through experiments with 20 participants.</a:t>
            </a:r>
          </a:p>
          <a:p>
            <a:pPr marL="0" indent="0">
              <a:buNone/>
            </a:pPr>
            <a:r>
              <a:rPr lang="en-US" sz="2200" dirty="0">
                <a:latin typeface="Times New Roman" panose="02020603050405020304" pitchFamily="18" charset="0"/>
                <a:cs typeface="Times New Roman" panose="02020603050405020304" pitchFamily="18" charset="0"/>
              </a:rPr>
              <a:t>• MDP provides optimal decisions through probabilistic state transitions and expected rewards.</a:t>
            </a:r>
            <a:br>
              <a:rPr lang="en-IN" sz="2200" dirty="0">
                <a:latin typeface="Times New Roman" panose="02020603050405020304" pitchFamily="18" charset="0"/>
                <a:cs typeface="Times New Roman" panose="02020603050405020304" pitchFamily="18" charset="0"/>
              </a:rPr>
            </a:b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78264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770917"/>
            <a:ext cx="9905998" cy="1478570"/>
          </a:xfrm>
        </p:spPr>
        <p:txBody>
          <a:bodyPr>
            <a:normAutofit/>
          </a:bodyPr>
          <a:lstStyle/>
          <a:p>
            <a:r>
              <a:rPr lang="en-US" b="1" cap="small" dirty="0">
                <a:solidFill>
                  <a:schemeClr val="bg2">
                    <a:lumMod val="25000"/>
                  </a:schemeClr>
                </a:solidFill>
                <a:latin typeface="Times New Roman" pitchFamily="18" charset="0"/>
                <a:cs typeface="Times New Roman" pitchFamily="18" charset="0"/>
              </a:rPr>
              <a:t>Applications:</a:t>
            </a:r>
            <a:br>
              <a:rPr lang="en-US" b="1" cap="small" dirty="0">
                <a:solidFill>
                  <a:schemeClr val="bg2">
                    <a:lumMod val="25000"/>
                  </a:schemeClr>
                </a:solidFill>
                <a:latin typeface="Times New Roman" pitchFamily="18" charset="0"/>
                <a:cs typeface="Times New Roman" pitchFamily="18" charset="0"/>
              </a:rPr>
            </a:br>
            <a:endParaRPr lang="en-IN" b="1" cap="small" dirty="0">
              <a:solidFill>
                <a:schemeClr val="bg2">
                  <a:lumMod val="25000"/>
                </a:schemeClr>
              </a:solidFill>
              <a:latin typeface="Times New Roman" pitchFamily="18" charset="0"/>
              <a:cs typeface="Times New Roman" pitchFamily="18" charset="0"/>
            </a:endParaRPr>
          </a:p>
        </p:txBody>
      </p:sp>
      <p:sp>
        <p:nvSpPr>
          <p:cNvPr id="3" name="Content Placeholder 2"/>
          <p:cNvSpPr>
            <a:spLocks noGrp="1"/>
          </p:cNvSpPr>
          <p:nvPr>
            <p:ph idx="1"/>
          </p:nvPr>
        </p:nvSpPr>
        <p:spPr>
          <a:xfrm>
            <a:off x="1141412" y="1873930"/>
            <a:ext cx="9905999" cy="3541714"/>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 Automated interior design optimization.</a:t>
            </a:r>
          </a:p>
          <a:p>
            <a:r>
              <a:rPr lang="en-US" dirty="0">
                <a:latin typeface="Times New Roman" panose="02020603050405020304" pitchFamily="18" charset="0"/>
                <a:cs typeface="Times New Roman" panose="02020603050405020304" pitchFamily="18" charset="0"/>
              </a:rPr>
              <a:t> AI-driven building information modeling (BIM) enhancement.</a:t>
            </a:r>
          </a:p>
          <a:p>
            <a:r>
              <a:rPr lang="en-US" dirty="0">
                <a:latin typeface="Times New Roman" panose="02020603050405020304" pitchFamily="18" charset="0"/>
                <a:cs typeface="Times New Roman" panose="02020603050405020304" pitchFamily="18" charset="0"/>
              </a:rPr>
              <a:t>Architecture and civil engineering project planning.</a:t>
            </a:r>
          </a:p>
          <a:p>
            <a:r>
              <a:rPr lang="en-US" dirty="0">
                <a:latin typeface="Times New Roman" panose="02020603050405020304" pitchFamily="18" charset="0"/>
                <a:cs typeface="Times New Roman" panose="02020603050405020304" pitchFamily="18" charset="0"/>
              </a:rPr>
              <a:t>Smart home and adaptive environment design.</a:t>
            </a:r>
          </a:p>
          <a:p>
            <a:r>
              <a:rPr lang="en-US" dirty="0">
                <a:latin typeface="Times New Roman" panose="02020603050405020304" pitchFamily="18" charset="0"/>
                <a:cs typeface="Times New Roman" panose="02020603050405020304" pitchFamily="18" charset="0"/>
              </a:rPr>
              <a:t>Virtual and augmented reality-based design simulation.</a:t>
            </a:r>
          </a:p>
          <a:p>
            <a:r>
              <a:rPr lang="en-US" dirty="0">
                <a:latin typeface="Times New Roman" panose="02020603050405020304" pitchFamily="18" charset="0"/>
                <a:cs typeface="Times New Roman" panose="02020603050405020304" pitchFamily="18" charset="0"/>
              </a:rPr>
              <a:t> Education and training in computational design automation.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38099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1" y="-165253"/>
            <a:ext cx="9905998" cy="1478570"/>
          </a:xfrm>
        </p:spPr>
        <p:txBody>
          <a:bodyPr>
            <a:normAutofit/>
          </a:bodyPr>
          <a:lstStyle/>
          <a:p>
            <a:r>
              <a:rPr lang="en-US" b="1" cap="small" dirty="0">
                <a:solidFill>
                  <a:schemeClr val="bg2">
                    <a:lumMod val="25000"/>
                  </a:schemeClr>
                </a:solidFill>
                <a:latin typeface="Times New Roman" pitchFamily="18" charset="0"/>
                <a:cs typeface="Times New Roman" pitchFamily="18" charset="0"/>
              </a:rPr>
              <a:t>Advantages:</a:t>
            </a:r>
            <a:endParaRPr lang="en-IN" b="1" cap="small" dirty="0">
              <a:solidFill>
                <a:schemeClr val="bg2">
                  <a:lumMod val="25000"/>
                </a:schemeClr>
              </a:solidFill>
              <a:latin typeface="Times New Roman" pitchFamily="18" charset="0"/>
              <a:cs typeface="Times New Roman" pitchFamily="18" charset="0"/>
            </a:endParaRPr>
          </a:p>
        </p:txBody>
      </p:sp>
      <p:sp>
        <p:nvSpPr>
          <p:cNvPr id="3" name="Content Placeholder 2"/>
          <p:cNvSpPr>
            <a:spLocks noGrp="1"/>
          </p:cNvSpPr>
          <p:nvPr>
            <p:ph idx="1"/>
          </p:nvPr>
        </p:nvSpPr>
        <p:spPr>
          <a:xfrm>
            <a:off x="994455" y="926872"/>
            <a:ext cx="11197545" cy="5473927"/>
          </a:xfrm>
        </p:spPr>
        <p:txBody>
          <a:bodyPr>
            <a:normAutofit/>
          </a:bodyPr>
          <a:lstStyle/>
          <a:p>
            <a:r>
              <a:rPr lang="en-US" sz="2200" dirty="0">
                <a:latin typeface="Times New Roman" panose="02020603050405020304" pitchFamily="18" charset="0"/>
                <a:cs typeface="Times New Roman" panose="02020603050405020304" pitchFamily="18" charset="0"/>
              </a:rPr>
              <a:t>Reduces manual intervention in design decisions.</a:t>
            </a:r>
          </a:p>
          <a:p>
            <a:r>
              <a:rPr lang="en-US" sz="2200" dirty="0">
                <a:latin typeface="Times New Roman" panose="02020603050405020304" pitchFamily="18" charset="0"/>
                <a:cs typeface="Times New Roman" panose="02020603050405020304" pitchFamily="18" charset="0"/>
              </a:rPr>
              <a:t>Learns from user feedback to improve satisfaction.</a:t>
            </a:r>
          </a:p>
          <a:p>
            <a:r>
              <a:rPr lang="en-US" sz="2200" dirty="0">
                <a:latin typeface="Times New Roman" panose="02020603050405020304" pitchFamily="18" charset="0"/>
                <a:cs typeface="Times New Roman" panose="02020603050405020304" pitchFamily="18" charset="0"/>
              </a:rPr>
              <a:t>Probabilistic decision modeling ensures flexibility.</a:t>
            </a:r>
          </a:p>
          <a:p>
            <a:r>
              <a:rPr lang="en-US" sz="2200" dirty="0">
                <a:latin typeface="Times New Roman" panose="02020603050405020304" pitchFamily="18" charset="0"/>
                <a:cs typeface="Times New Roman" panose="02020603050405020304" pitchFamily="18" charset="0"/>
              </a:rPr>
              <a:t>Scalable and adaptable for various environments.</a:t>
            </a:r>
          </a:p>
          <a:p>
            <a:pPr marL="0" indent="0">
              <a:buNone/>
            </a:pPr>
            <a:endParaRPr lang="en-US" sz="2200" b="1" cap="small" dirty="0">
              <a:solidFill>
                <a:schemeClr val="bg2">
                  <a:lumMod val="25000"/>
                </a:schemeClr>
              </a:solidFill>
              <a:latin typeface="Times New Roman" pitchFamily="18" charset="0"/>
              <a:cs typeface="Times New Roman" pitchFamily="18" charset="0"/>
            </a:endParaRPr>
          </a:p>
          <a:p>
            <a:pPr marL="0" indent="0">
              <a:buNone/>
            </a:pPr>
            <a:r>
              <a:rPr lang="en-US" sz="2200" b="1" cap="small" dirty="0">
                <a:solidFill>
                  <a:schemeClr val="bg2">
                    <a:lumMod val="25000"/>
                  </a:schemeClr>
                </a:solidFill>
                <a:latin typeface="Times New Roman" pitchFamily="18" charset="0"/>
                <a:cs typeface="Times New Roman" pitchFamily="18" charset="0"/>
              </a:rPr>
              <a:t>Limitations</a:t>
            </a:r>
          </a:p>
          <a:p>
            <a:r>
              <a:rPr lang="en-US" sz="2200" dirty="0">
                <a:latin typeface="Times New Roman" panose="02020603050405020304" pitchFamily="18" charset="0"/>
                <a:cs typeface="Times New Roman" panose="02020603050405020304" pitchFamily="18" charset="0"/>
              </a:rPr>
              <a:t>Requires significant computational resources for simulation.</a:t>
            </a:r>
          </a:p>
          <a:p>
            <a:r>
              <a:rPr lang="en-US" sz="2200" dirty="0">
                <a:latin typeface="Times New Roman" panose="02020603050405020304" pitchFamily="18" charset="0"/>
                <a:cs typeface="Times New Roman" panose="02020603050405020304" pitchFamily="18" charset="0"/>
              </a:rPr>
              <a:t>Dependent on quality of input video data.</a:t>
            </a:r>
          </a:p>
          <a:p>
            <a:r>
              <a:rPr lang="en-US" sz="2200" dirty="0">
                <a:latin typeface="Times New Roman" panose="02020603050405020304" pitchFamily="18" charset="0"/>
                <a:cs typeface="Times New Roman" panose="02020603050405020304" pitchFamily="18" charset="0"/>
              </a:rPr>
              <a:t>Partial automation; manual intervention still needed for complex objects.</a:t>
            </a:r>
          </a:p>
        </p:txBody>
      </p:sp>
    </p:spTree>
    <p:extLst>
      <p:ext uri="{BB962C8B-B14F-4D97-AF65-F5344CB8AC3E}">
        <p14:creationId xmlns:p14="http://schemas.microsoft.com/office/powerpoint/2010/main" val="3432655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179573"/>
            <a:ext cx="9905998" cy="1478570"/>
          </a:xfrm>
        </p:spPr>
        <p:txBody>
          <a:bodyPr>
            <a:normAutofit/>
          </a:bodyPr>
          <a:lstStyle/>
          <a:p>
            <a:r>
              <a:rPr lang="en-US" b="1" cap="small" dirty="0">
                <a:solidFill>
                  <a:schemeClr val="bg2">
                    <a:lumMod val="25000"/>
                  </a:schemeClr>
                </a:solidFill>
                <a:latin typeface="Times New Roman" pitchFamily="18" charset="0"/>
                <a:cs typeface="Times New Roman" pitchFamily="18" charset="0"/>
              </a:rPr>
              <a:t>References:</a:t>
            </a:r>
            <a:endParaRPr lang="en-IN" b="1" cap="small" dirty="0">
              <a:solidFill>
                <a:schemeClr val="bg2">
                  <a:lumMod val="25000"/>
                </a:schemeClr>
              </a:solidFill>
              <a:latin typeface="Times New Roman" pitchFamily="18" charset="0"/>
              <a:cs typeface="Times New Roman" pitchFamily="18" charset="0"/>
            </a:endParaRPr>
          </a:p>
        </p:txBody>
      </p:sp>
      <p:sp>
        <p:nvSpPr>
          <p:cNvPr id="3" name="Content Placeholder 2"/>
          <p:cNvSpPr>
            <a:spLocks noGrp="1"/>
          </p:cNvSpPr>
          <p:nvPr>
            <p:ph idx="1"/>
          </p:nvPr>
        </p:nvSpPr>
        <p:spPr>
          <a:xfrm>
            <a:off x="1027113" y="1266257"/>
            <a:ext cx="10582501" cy="3541714"/>
          </a:xfrm>
        </p:spPr>
        <p:txBody>
          <a:bodyPr>
            <a:noAutofit/>
          </a:bodyPr>
          <a:lstStyle/>
          <a:p>
            <a:r>
              <a:rPr lang="en-IN" sz="1800" dirty="0">
                <a:latin typeface="Times New Roman" panose="02020603050405020304" pitchFamily="18" charset="0"/>
                <a:cs typeface="Times New Roman" panose="02020603050405020304" pitchFamily="18" charset="0"/>
              </a:rPr>
              <a:t>E. Karan et al., </a:t>
            </a:r>
            <a:r>
              <a:rPr lang="en-IN" sz="1800" i="1" dirty="0">
                <a:latin typeface="Times New Roman" panose="02020603050405020304" pitchFamily="18" charset="0"/>
                <a:cs typeface="Times New Roman" panose="02020603050405020304" pitchFamily="18" charset="0"/>
              </a:rPr>
              <a:t>“A Markov Decision Process Workflow for Automating Interior Design,”</a:t>
            </a:r>
            <a:r>
              <a:rPr lang="en-IN" sz="1800" dirty="0">
                <a:latin typeface="Times New Roman" panose="02020603050405020304" pitchFamily="18" charset="0"/>
                <a:cs typeface="Times New Roman" panose="02020603050405020304" pitchFamily="18" charset="0"/>
              </a:rPr>
              <a:t> </a:t>
            </a:r>
            <a:r>
              <a:rPr lang="en-IN" sz="1800" i="1" dirty="0">
                <a:latin typeface="Times New Roman" panose="02020603050405020304" pitchFamily="18" charset="0"/>
                <a:cs typeface="Times New Roman" panose="02020603050405020304" pitchFamily="18" charset="0"/>
              </a:rPr>
              <a:t>International Journal of Building Information </a:t>
            </a:r>
            <a:r>
              <a:rPr lang="en-IN" sz="1800" i="1" dirty="0" err="1">
                <a:latin typeface="Times New Roman" panose="02020603050405020304" pitchFamily="18" charset="0"/>
                <a:cs typeface="Times New Roman" panose="02020603050405020304" pitchFamily="18" charset="0"/>
              </a:rPr>
              <a:t>Modeling</a:t>
            </a:r>
            <a:r>
              <a:rPr lang="en-IN" sz="1800" i="1" dirty="0">
                <a:latin typeface="Times New Roman" panose="02020603050405020304" pitchFamily="18" charset="0"/>
                <a:cs typeface="Times New Roman" panose="02020603050405020304" pitchFamily="18" charset="0"/>
              </a:rPr>
              <a:t> and Automation</a:t>
            </a:r>
            <a:r>
              <a:rPr lang="en-IN" sz="1800" dirty="0">
                <a:latin typeface="Times New Roman" panose="02020603050405020304" pitchFamily="18" charset="0"/>
                <a:cs typeface="Times New Roman" panose="02020603050405020304" pitchFamily="18" charset="0"/>
              </a:rPr>
              <a:t>, vol. 5, no. 3, pp. 112–119, 2021.</a:t>
            </a:r>
          </a:p>
          <a:p>
            <a:r>
              <a:rPr lang="en-IN" sz="1800" dirty="0">
                <a:latin typeface="Times New Roman" panose="02020603050405020304" pitchFamily="18" charset="0"/>
                <a:cs typeface="Times New Roman" panose="02020603050405020304" pitchFamily="18" charset="0"/>
              </a:rPr>
              <a:t>K. Thakkar, S. Patel, and P. Shah, </a:t>
            </a:r>
            <a:r>
              <a:rPr lang="en-IN" sz="1800" i="1" dirty="0">
                <a:latin typeface="Times New Roman" panose="02020603050405020304" pitchFamily="18" charset="0"/>
                <a:cs typeface="Times New Roman" panose="02020603050405020304" pitchFamily="18" charset="0"/>
              </a:rPr>
              <a:t>“Generative AI-Based Interior Designing,”</a:t>
            </a:r>
            <a:r>
              <a:rPr lang="en-IN" sz="1800" dirty="0">
                <a:latin typeface="Times New Roman" panose="02020603050405020304" pitchFamily="18" charset="0"/>
                <a:cs typeface="Times New Roman" panose="02020603050405020304" pitchFamily="18" charset="0"/>
              </a:rPr>
              <a:t> </a:t>
            </a:r>
            <a:r>
              <a:rPr lang="en-IN" sz="1800" i="1" dirty="0">
                <a:latin typeface="Times New Roman" panose="02020603050405020304" pitchFamily="18" charset="0"/>
                <a:cs typeface="Times New Roman" panose="02020603050405020304" pitchFamily="18" charset="0"/>
              </a:rPr>
              <a:t>International Journal of Innovative Research in Computer and Communication Engineering (IJIRCCE)</a:t>
            </a:r>
            <a:r>
              <a:rPr lang="en-IN" sz="1800" dirty="0">
                <a:latin typeface="Times New Roman" panose="02020603050405020304" pitchFamily="18" charset="0"/>
                <a:cs typeface="Times New Roman" panose="02020603050405020304" pitchFamily="18" charset="0"/>
              </a:rPr>
              <a:t>, vol. 12, no. 4, pp. 45–52, 2024.</a:t>
            </a:r>
          </a:p>
          <a:p>
            <a:r>
              <a:rPr lang="en-IN" sz="1800" dirty="0">
                <a:latin typeface="Times New Roman" panose="02020603050405020304" pitchFamily="18" charset="0"/>
                <a:cs typeface="Times New Roman" panose="02020603050405020304" pitchFamily="18" charset="0"/>
              </a:rPr>
              <a:t>M. </a:t>
            </a:r>
            <a:r>
              <a:rPr lang="en-IN" sz="1800" dirty="0" err="1">
                <a:latin typeface="Times New Roman" panose="02020603050405020304" pitchFamily="18" charset="0"/>
                <a:cs typeface="Times New Roman" panose="02020603050405020304" pitchFamily="18" charset="0"/>
              </a:rPr>
              <a:t>Tumengkol</a:t>
            </a:r>
            <a:r>
              <a:rPr lang="en-IN" sz="1800" dirty="0">
                <a:latin typeface="Times New Roman" panose="02020603050405020304" pitchFamily="18" charset="0"/>
                <a:cs typeface="Times New Roman" panose="02020603050405020304" pitchFamily="18" charset="0"/>
              </a:rPr>
              <a:t> et al., </a:t>
            </a:r>
            <a:r>
              <a:rPr lang="en-IN" sz="1800" i="1" dirty="0">
                <a:latin typeface="Times New Roman" panose="02020603050405020304" pitchFamily="18" charset="0"/>
                <a:cs typeface="Times New Roman" panose="02020603050405020304" pitchFamily="18" charset="0"/>
              </a:rPr>
              <a:t>“AI Technology for Optimizing Real-Time Work Processes in Interior Design,”</a:t>
            </a:r>
            <a:r>
              <a:rPr lang="en-IN" sz="1800" dirty="0">
                <a:latin typeface="Times New Roman" panose="02020603050405020304" pitchFamily="18" charset="0"/>
                <a:cs typeface="Times New Roman" panose="02020603050405020304" pitchFamily="18" charset="0"/>
              </a:rPr>
              <a:t> </a:t>
            </a:r>
            <a:r>
              <a:rPr lang="en-IN" sz="1800" i="1" dirty="0">
                <a:latin typeface="Times New Roman" panose="02020603050405020304" pitchFamily="18" charset="0"/>
                <a:cs typeface="Times New Roman" panose="02020603050405020304" pitchFamily="18" charset="0"/>
              </a:rPr>
              <a:t>IEEE Access</a:t>
            </a:r>
            <a:r>
              <a:rPr lang="en-IN" sz="1800" dirty="0">
                <a:latin typeface="Times New Roman" panose="02020603050405020304" pitchFamily="18" charset="0"/>
                <a:cs typeface="Times New Roman" panose="02020603050405020304" pitchFamily="18" charset="0"/>
              </a:rPr>
              <a:t>, vol. 12, pp. 21560–21572, 2024.</a:t>
            </a:r>
          </a:p>
          <a:p>
            <a:r>
              <a:rPr lang="en-IN" sz="1800" dirty="0">
                <a:latin typeface="Times New Roman" panose="02020603050405020304" pitchFamily="18" charset="0"/>
                <a:cs typeface="Times New Roman" panose="02020603050405020304" pitchFamily="18" charset="0"/>
              </a:rPr>
              <a:t>N. Hafizah, M. S. Rahman, and A. Karim, </a:t>
            </a:r>
            <a:r>
              <a:rPr lang="en-IN" sz="1800" i="1" dirty="0">
                <a:latin typeface="Times New Roman" panose="02020603050405020304" pitchFamily="18" charset="0"/>
                <a:cs typeface="Times New Roman" panose="02020603050405020304" pitchFamily="18" charset="0"/>
              </a:rPr>
              <a:t>“The Role of Artificial Intelligence (AI) in Interior Architecture Design: A Thematic Review,”</a:t>
            </a:r>
            <a:r>
              <a:rPr lang="en-IN" sz="1800" dirty="0">
                <a:latin typeface="Times New Roman" panose="02020603050405020304" pitchFamily="18" charset="0"/>
                <a:cs typeface="Times New Roman" panose="02020603050405020304" pitchFamily="18" charset="0"/>
              </a:rPr>
              <a:t> </a:t>
            </a:r>
            <a:r>
              <a:rPr lang="en-IN" sz="1800" i="1" dirty="0">
                <a:latin typeface="Times New Roman" panose="02020603050405020304" pitchFamily="18" charset="0"/>
                <a:cs typeface="Times New Roman" panose="02020603050405020304" pitchFamily="18" charset="0"/>
              </a:rPr>
              <a:t>Journal of Interior Architecture and Design Studies</a:t>
            </a:r>
            <a:r>
              <a:rPr lang="en-IN" sz="1800" dirty="0">
                <a:latin typeface="Times New Roman" panose="02020603050405020304" pitchFamily="18" charset="0"/>
                <a:cs typeface="Times New Roman" panose="02020603050405020304" pitchFamily="18" charset="0"/>
              </a:rPr>
              <a:t>, vol. 9, no. 1, pp. 13–28, 2025.</a:t>
            </a:r>
          </a:p>
          <a:p>
            <a:r>
              <a:rPr lang="en-IN" sz="1800" dirty="0">
                <a:latin typeface="Times New Roman" panose="02020603050405020304" pitchFamily="18" charset="0"/>
                <a:cs typeface="Times New Roman" panose="02020603050405020304" pitchFamily="18" charset="0"/>
              </a:rPr>
              <a:t>C. S. Dewi, R. M. Wijaya, and A. Gunawan, </a:t>
            </a:r>
            <a:r>
              <a:rPr lang="en-IN" sz="1800" i="1" dirty="0">
                <a:latin typeface="Times New Roman" panose="02020603050405020304" pitchFamily="18" charset="0"/>
                <a:cs typeface="Times New Roman" panose="02020603050405020304" pitchFamily="18" charset="0"/>
              </a:rPr>
              <a:t>“Smart Interior Design System Leveraging Machine Learning and Augmented Reality for Personalization,”</a:t>
            </a:r>
            <a:r>
              <a:rPr lang="en-IN" sz="1800" dirty="0">
                <a:latin typeface="Times New Roman" panose="02020603050405020304" pitchFamily="18" charset="0"/>
                <a:cs typeface="Times New Roman" panose="02020603050405020304" pitchFamily="18" charset="0"/>
              </a:rPr>
              <a:t> </a:t>
            </a:r>
            <a:r>
              <a:rPr lang="en-IN" sz="1800" i="1" dirty="0">
                <a:latin typeface="Times New Roman" panose="02020603050405020304" pitchFamily="18" charset="0"/>
                <a:cs typeface="Times New Roman" panose="02020603050405020304" pitchFamily="18" charset="0"/>
              </a:rPr>
              <a:t>International Journal of Interactive Design and Manufacturing</a:t>
            </a:r>
            <a:r>
              <a:rPr lang="en-IN" sz="1800" dirty="0">
                <a:latin typeface="Times New Roman" panose="02020603050405020304" pitchFamily="18" charset="0"/>
                <a:cs typeface="Times New Roman" panose="02020603050405020304" pitchFamily="18" charset="0"/>
              </a:rPr>
              <a:t>, vol. 11, no. 2, pp. 87–96, 2025.</a:t>
            </a:r>
          </a:p>
          <a:p>
            <a:endParaRPr lang="en-IN" sz="2200" dirty="0"/>
          </a:p>
        </p:txBody>
      </p:sp>
    </p:spTree>
    <p:extLst>
      <p:ext uri="{BB962C8B-B14F-4D97-AF65-F5344CB8AC3E}">
        <p14:creationId xmlns:p14="http://schemas.microsoft.com/office/powerpoint/2010/main" val="25563482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6F60E-2191-6977-0E0A-867109A2D8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5DC6A1-76B4-B603-9B0D-4CD69BB67ACE}"/>
              </a:ext>
            </a:extLst>
          </p:cNvPr>
          <p:cNvSpPr>
            <a:spLocks noGrp="1"/>
          </p:cNvSpPr>
          <p:nvPr>
            <p:ph type="title"/>
          </p:nvPr>
        </p:nvSpPr>
        <p:spPr>
          <a:xfrm>
            <a:off x="1141413" y="179573"/>
            <a:ext cx="9905998" cy="1478570"/>
          </a:xfrm>
        </p:spPr>
        <p:txBody>
          <a:bodyPr>
            <a:normAutofit/>
          </a:bodyPr>
          <a:lstStyle/>
          <a:p>
            <a:r>
              <a:rPr lang="en-US" b="1" cap="small" dirty="0">
                <a:solidFill>
                  <a:schemeClr val="bg2">
                    <a:lumMod val="25000"/>
                  </a:schemeClr>
                </a:solidFill>
                <a:latin typeface="Times New Roman" pitchFamily="18" charset="0"/>
                <a:cs typeface="Times New Roman" pitchFamily="18" charset="0"/>
              </a:rPr>
              <a:t>ANEXURE:</a:t>
            </a:r>
            <a:endParaRPr lang="en-IN" b="1" cap="small" dirty="0">
              <a:solidFill>
                <a:schemeClr val="bg2">
                  <a:lumMod val="25000"/>
                </a:schemeClr>
              </a:solidFill>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B4F1BBD0-2FEE-25DC-07D4-5692606818EC}"/>
              </a:ext>
            </a:extLst>
          </p:cNvPr>
          <p:cNvSpPr>
            <a:spLocks noGrp="1"/>
          </p:cNvSpPr>
          <p:nvPr>
            <p:ph idx="1"/>
          </p:nvPr>
        </p:nvSpPr>
        <p:spPr>
          <a:xfrm>
            <a:off x="1027113" y="1266257"/>
            <a:ext cx="10582501" cy="3541714"/>
          </a:xfrm>
        </p:spPr>
        <p:txBody>
          <a:bodyPr>
            <a:noAutofit/>
          </a:bodyPr>
          <a:lstStyle/>
          <a:p>
            <a:r>
              <a:rPr lang="en-US" sz="2200" dirty="0">
                <a:latin typeface="Times New Roman" panose="02020603050405020304" pitchFamily="18" charset="0"/>
                <a:cs typeface="Times New Roman" panose="02020603050405020304" pitchFamily="18" charset="0"/>
              </a:rPr>
              <a:t>ControlNet &amp; Stable Diffusion: These are smart computer programs that can create and change pictures of rooms and furniture based on what you show or tell them. Think of them like digital artists who help design your space.</a:t>
            </a:r>
          </a:p>
          <a:p>
            <a:r>
              <a:rPr lang="en-US" sz="2200" dirty="0">
                <a:latin typeface="Times New Roman" panose="02020603050405020304" pitchFamily="18" charset="0"/>
                <a:cs typeface="Times New Roman" panose="02020603050405020304" pitchFamily="18" charset="0"/>
              </a:rPr>
              <a:t>Markov Decision Process (MDP): This is a way for the computer to make step-by-step choices to find the best way to arrange your room, like planning moves in a game to get the best result.</a:t>
            </a:r>
          </a:p>
          <a:p>
            <a:r>
              <a:rPr lang="en-US" sz="2200" dirty="0">
                <a:latin typeface="Times New Roman" panose="02020603050405020304" pitchFamily="18" charset="0"/>
                <a:cs typeface="Times New Roman" panose="02020603050405020304" pitchFamily="18" charset="0"/>
              </a:rPr>
              <a:t>Pandit Chatbot: This is a virtual helper that talks with you and answers questions about Vastu — the traditional Indian rules about how rooms should be arranged for good energy.</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61510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1" y="-148925"/>
            <a:ext cx="9905998" cy="1478570"/>
          </a:xfrm>
        </p:spPr>
        <p:txBody>
          <a:bodyPr>
            <a:normAutofit fontScale="90000"/>
          </a:bodyPr>
          <a:lstStyle/>
          <a:p>
            <a:br>
              <a:rPr lang="en-US" b="1" cap="small" dirty="0">
                <a:solidFill>
                  <a:schemeClr val="bg2">
                    <a:lumMod val="25000"/>
                  </a:schemeClr>
                </a:solidFill>
                <a:latin typeface="Times New Roman" pitchFamily="18" charset="0"/>
                <a:cs typeface="Times New Roman" pitchFamily="18" charset="0"/>
              </a:rPr>
            </a:br>
            <a:br>
              <a:rPr lang="en-US" b="1" cap="small" dirty="0">
                <a:solidFill>
                  <a:schemeClr val="bg2">
                    <a:lumMod val="25000"/>
                  </a:schemeClr>
                </a:solidFill>
                <a:latin typeface="Times New Roman" pitchFamily="18" charset="0"/>
                <a:cs typeface="Times New Roman" pitchFamily="18" charset="0"/>
              </a:rPr>
            </a:br>
            <a:r>
              <a:rPr lang="en-US" b="1" cap="small" dirty="0">
                <a:solidFill>
                  <a:schemeClr val="bg2">
                    <a:lumMod val="25000"/>
                  </a:schemeClr>
                </a:solidFill>
                <a:latin typeface="Times New Roman" pitchFamily="18" charset="0"/>
                <a:cs typeface="Times New Roman" pitchFamily="18" charset="0"/>
              </a:rPr>
              <a:t>Copyright Details (Certificate/ Status Screenshot)</a:t>
            </a:r>
            <a:br>
              <a:rPr lang="en-US" b="1" cap="small" dirty="0">
                <a:solidFill>
                  <a:schemeClr val="bg2">
                    <a:lumMod val="25000"/>
                  </a:schemeClr>
                </a:solidFill>
                <a:latin typeface="Times New Roman" pitchFamily="18" charset="0"/>
                <a:cs typeface="Times New Roman" pitchFamily="18" charset="0"/>
              </a:rPr>
            </a:br>
            <a:endParaRPr lang="en-IN" b="1" cap="small" dirty="0">
              <a:solidFill>
                <a:schemeClr val="bg2">
                  <a:lumMod val="25000"/>
                </a:schemeClr>
              </a:solidFill>
              <a:latin typeface="Times New Roman" pitchFamily="18" charset="0"/>
              <a:cs typeface="Times New Roman" pitchFamily="18" charset="0"/>
            </a:endParaRPr>
          </a:p>
        </p:txBody>
      </p:sp>
      <p:pic>
        <p:nvPicPr>
          <p:cNvPr id="5" name="Picture 4">
            <a:extLst>
              <a:ext uri="{FF2B5EF4-FFF2-40B4-BE49-F238E27FC236}">
                <a16:creationId xmlns:a16="http://schemas.microsoft.com/office/drawing/2014/main" id="{4774C6B9-6083-DBB2-0DF6-02AAA22AA7F4}"/>
              </a:ext>
            </a:extLst>
          </p:cNvPr>
          <p:cNvPicPr>
            <a:picLocks noChangeAspect="1"/>
          </p:cNvPicPr>
          <p:nvPr/>
        </p:nvPicPr>
        <p:blipFill>
          <a:blip r:embed="rId2">
            <a:extLst>
              <a:ext uri="{28A0092B-C50C-407E-A947-70E740481C1C}">
                <a14:useLocalDpi xmlns:a14="http://schemas.microsoft.com/office/drawing/2010/main" val="0"/>
              </a:ext>
            </a:extLst>
          </a:blip>
          <a:srcRect l="8843" t="14183" r="10527" b="6718"/>
          <a:stretch>
            <a:fillRect/>
          </a:stretch>
        </p:blipFill>
        <p:spPr>
          <a:xfrm>
            <a:off x="2067560" y="1686559"/>
            <a:ext cx="8056880" cy="4306467"/>
          </a:xfrm>
          <a:prstGeom prst="rect">
            <a:avLst/>
          </a:prstGeom>
        </p:spPr>
      </p:pic>
    </p:spTree>
    <p:extLst>
      <p:ext uri="{BB962C8B-B14F-4D97-AF65-F5344CB8AC3E}">
        <p14:creationId xmlns:p14="http://schemas.microsoft.com/office/powerpoint/2010/main" val="32375438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cap="small" dirty="0">
                <a:solidFill>
                  <a:schemeClr val="bg2">
                    <a:lumMod val="25000"/>
                  </a:schemeClr>
                </a:solidFill>
                <a:latin typeface="Times New Roman" pitchFamily="18" charset="0"/>
                <a:cs typeface="Times New Roman" pitchFamily="18" charset="0"/>
              </a:rPr>
            </a:br>
            <a:br>
              <a:rPr lang="en-US" b="1" cap="small" dirty="0">
                <a:solidFill>
                  <a:schemeClr val="bg2">
                    <a:lumMod val="25000"/>
                  </a:schemeClr>
                </a:solidFill>
                <a:latin typeface="Times New Roman" pitchFamily="18" charset="0"/>
                <a:cs typeface="Times New Roman" pitchFamily="18" charset="0"/>
              </a:rPr>
            </a:br>
            <a:r>
              <a:rPr lang="en-US" b="1" cap="small" dirty="0">
                <a:solidFill>
                  <a:schemeClr val="bg2">
                    <a:lumMod val="25000"/>
                  </a:schemeClr>
                </a:solidFill>
                <a:latin typeface="Times New Roman" pitchFamily="18" charset="0"/>
                <a:cs typeface="Times New Roman" pitchFamily="18" charset="0"/>
              </a:rPr>
              <a:t>Paper Submitted Details (Journal/Conference Details, Submitted Date)</a:t>
            </a:r>
            <a:br>
              <a:rPr lang="en-US" b="1" cap="small" dirty="0">
                <a:solidFill>
                  <a:schemeClr val="bg2">
                    <a:lumMod val="25000"/>
                  </a:schemeClr>
                </a:solidFill>
                <a:latin typeface="Times New Roman" pitchFamily="18" charset="0"/>
                <a:cs typeface="Times New Roman" pitchFamily="18" charset="0"/>
              </a:rPr>
            </a:br>
            <a:br>
              <a:rPr lang="en-US" b="1" cap="small" dirty="0">
                <a:solidFill>
                  <a:schemeClr val="bg2">
                    <a:lumMod val="25000"/>
                  </a:schemeClr>
                </a:solidFill>
                <a:latin typeface="Times New Roman" pitchFamily="18" charset="0"/>
                <a:cs typeface="Times New Roman" pitchFamily="18" charset="0"/>
              </a:rPr>
            </a:br>
            <a:endParaRPr lang="en-IN" b="1" cap="small" dirty="0">
              <a:solidFill>
                <a:schemeClr val="bg2">
                  <a:lumMod val="25000"/>
                </a:schemeClr>
              </a:solidFill>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https://docs.google.com/document/d/1WrZSIBbaqvhCfqKtcxTwLPfHRy0nFjZz/edit?usp=drivesdk&amp;ouid=115637726928041618657&amp;rtpof=true&amp;sd=true</a:t>
            </a:r>
          </a:p>
        </p:txBody>
      </p:sp>
    </p:spTree>
    <p:extLst>
      <p:ext uri="{BB962C8B-B14F-4D97-AF65-F5344CB8AC3E}">
        <p14:creationId xmlns:p14="http://schemas.microsoft.com/office/powerpoint/2010/main" val="8560437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6246" y="1390305"/>
            <a:ext cx="10292781" cy="3668256"/>
          </a:xfrm>
        </p:spPr>
        <p:txBody>
          <a:bodyPr>
            <a:normAutofit/>
          </a:bodyPr>
          <a:lstStyle/>
          <a:p>
            <a:pPr algn="ctr"/>
            <a:r>
              <a:rPr lang="en-US" sz="7200" b="1" cap="small" dirty="0">
                <a:solidFill>
                  <a:schemeClr val="bg2">
                    <a:lumMod val="25000"/>
                  </a:schemeClr>
                </a:solidFill>
                <a:latin typeface="Times New Roman" pitchFamily="18" charset="0"/>
                <a:cs typeface="Times New Roman" pitchFamily="18" charset="0"/>
              </a:rPr>
              <a:t>Thank You!</a:t>
            </a:r>
            <a:endParaRPr lang="en-IN" sz="7200" b="1" cap="small" dirty="0">
              <a:solidFill>
                <a:schemeClr val="bg2">
                  <a:lumMod val="25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953440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10586396" cy="4884660"/>
          </a:xfrm>
        </p:spPr>
        <p:txBody>
          <a:bodyPr/>
          <a:lstStyle/>
          <a:p>
            <a:pPr algn="ctr"/>
            <a:r>
              <a:rPr lang="en-US" sz="7200" b="1" cap="small" dirty="0">
                <a:solidFill>
                  <a:schemeClr val="bg2">
                    <a:lumMod val="25000"/>
                  </a:schemeClr>
                </a:solidFill>
                <a:latin typeface="Times New Roman" pitchFamily="18" charset="0"/>
                <a:cs typeface="Times New Roman" pitchFamily="18" charset="0"/>
              </a:rPr>
              <a:t>Q&amp;A</a:t>
            </a:r>
            <a:r>
              <a:rPr lang="en-US" b="1" dirty="0">
                <a:solidFill>
                  <a:schemeClr val="bg1"/>
                </a:solidFill>
                <a:latin typeface="Cambria" pitchFamily="18" charset="0"/>
              </a:rPr>
              <a:t>……</a:t>
            </a:r>
            <a:endParaRPr lang="en-IN" dirty="0">
              <a:solidFill>
                <a:schemeClr val="bg1"/>
              </a:solidFill>
            </a:endParaRPr>
          </a:p>
        </p:txBody>
      </p:sp>
    </p:spTree>
    <p:extLst>
      <p:ext uri="{BB962C8B-B14F-4D97-AF65-F5344CB8AC3E}">
        <p14:creationId xmlns:p14="http://schemas.microsoft.com/office/powerpoint/2010/main" val="370234047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167</TotalTime>
  <Words>1658</Words>
  <Application>Microsoft Office PowerPoint</Application>
  <PresentationFormat>Widescreen</PresentationFormat>
  <Paragraphs>167</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Cambria</vt:lpstr>
      <vt:lpstr>Times New Roman</vt:lpstr>
      <vt:lpstr>Tw Cen MT</vt:lpstr>
      <vt:lpstr>Circuit</vt:lpstr>
      <vt:lpstr>PowerPoint Presentation</vt:lpstr>
      <vt:lpstr>Outlines:</vt:lpstr>
      <vt:lpstr>Introduction To The Domain:</vt:lpstr>
      <vt:lpstr>Motivation: </vt:lpstr>
      <vt:lpstr>Problem Statement: </vt:lpstr>
      <vt:lpstr>Objective: </vt:lpstr>
      <vt:lpstr>Literature review: </vt:lpstr>
      <vt:lpstr>Literature review: </vt:lpstr>
      <vt:lpstr>Literature review: </vt:lpstr>
      <vt:lpstr>Technologies Used: </vt:lpstr>
      <vt:lpstr>System architecture:</vt:lpstr>
      <vt:lpstr>UML Diagram</vt:lpstr>
      <vt:lpstr>Results and Discussion  </vt:lpstr>
      <vt:lpstr>Applications: </vt:lpstr>
      <vt:lpstr>Advantages:</vt:lpstr>
      <vt:lpstr>References:</vt:lpstr>
      <vt:lpstr>ANEXURE:</vt:lpstr>
      <vt:lpstr>  Copyright Details (Certificate/ Status Screenshot) </vt:lpstr>
      <vt:lpstr>  Paper Submitted Details (Journal/Conference Details, Submitted Date)  </vt:lpstr>
      <vt:lpstr>Thank You!</vt:lpstr>
      <vt:lpstr>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Staff</dc:creator>
  <cp:lastModifiedBy>sujit nirmal</cp:lastModifiedBy>
  <cp:revision>26</cp:revision>
  <dcterms:created xsi:type="dcterms:W3CDTF">2023-03-15T10:51:29Z</dcterms:created>
  <dcterms:modified xsi:type="dcterms:W3CDTF">2025-10-16T06:21:47Z</dcterms:modified>
</cp:coreProperties>
</file>